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7"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819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E3642-80CE-CDB5-7D91-79463542F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91FCF-9966-98E3-6FE1-907F6114B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388BF-DF4E-2B5A-7AE4-2B2D8673AD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58AD35-0078-C4C6-CEE6-78A8408B763F}"/>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802241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A2744-CF1A-85D2-EAA1-3ED2E48FF2C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F00368-A4C0-5666-F521-1EFAA3FF7AED}"/>
              </a:ext>
            </a:extLst>
          </p:cNvPr>
          <p:cNvSpPr/>
          <p:nvPr/>
        </p:nvSpPr>
        <p:spPr>
          <a:xfrm>
            <a:off x="0" y="0"/>
            <a:ext cx="12191695" cy="6858000"/>
          </a:xfrm>
          <a:prstGeom prst="rect">
            <a:avLst/>
          </a:prstGeom>
          <a:solidFill>
            <a:srgbClr val="1E2761"/>
          </a:solidFill>
          <a:ln/>
        </p:spPr>
      </p:sp>
      <p:sp>
        <p:nvSpPr>
          <p:cNvPr id="3" name="Text 1">
            <a:extLst>
              <a:ext uri="{FF2B5EF4-FFF2-40B4-BE49-F238E27FC236}">
                <a16:creationId xmlns:a16="http://schemas.microsoft.com/office/drawing/2014/main" id="{F3A62DC8-1AA0-3D6F-557E-1ED4359B5790}"/>
              </a:ext>
            </a:extLst>
          </p:cNvPr>
          <p:cNvSpPr/>
          <p:nvPr/>
        </p:nvSpPr>
        <p:spPr>
          <a:xfrm>
            <a:off x="822960" y="2148840"/>
            <a:ext cx="10058400" cy="457200"/>
          </a:xfrm>
          <a:prstGeom prst="rect">
            <a:avLst/>
          </a:prstGeom>
          <a:noFill/>
          <a:ln/>
        </p:spPr>
        <p:txBody>
          <a:bodyPr wrap="square" lIns="0" tIns="0" rIns="0" bIns="0" rtlCol="0" anchor="ctr"/>
          <a:lstStyle/>
          <a:p>
            <a:pPr marL="0" indent="0" algn="r">
              <a:buNone/>
            </a:pPr>
            <a:r>
              <a:rPr lang="en-US" sz="4000" dirty="0">
                <a:solidFill>
                  <a:srgbClr val="FFC000"/>
                </a:solidFill>
              </a:rPr>
              <a:t>Maulik Thakkar</a:t>
            </a:r>
            <a:br>
              <a:rPr lang="en-US" sz="4000" dirty="0">
                <a:solidFill>
                  <a:srgbClr val="FFC000"/>
                </a:solidFill>
              </a:rPr>
            </a:br>
            <a:r>
              <a:rPr lang="en-US" sz="4000" dirty="0">
                <a:solidFill>
                  <a:srgbClr val="FFC000"/>
                </a:solidFill>
              </a:rPr>
              <a:t>Project 5</a:t>
            </a:r>
            <a:br>
              <a:rPr lang="en-US" sz="4000" dirty="0">
                <a:solidFill>
                  <a:srgbClr val="FFC000"/>
                </a:solidFill>
              </a:rPr>
            </a:br>
            <a:r>
              <a:rPr lang="en-US" sz="4000" dirty="0">
                <a:solidFill>
                  <a:srgbClr val="FFC000"/>
                </a:solidFill>
              </a:rPr>
              <a:t>Nexthike IT solutions</a:t>
            </a:r>
            <a:br>
              <a:rPr lang="en-US" sz="4000" dirty="0">
                <a:solidFill>
                  <a:srgbClr val="FFC000"/>
                </a:solidFill>
              </a:rPr>
            </a:br>
            <a:r>
              <a:rPr lang="en-US" sz="4000" dirty="0">
                <a:solidFill>
                  <a:srgbClr val="FFC000"/>
                </a:solidFill>
              </a:rPr>
              <a:t>Intern</a:t>
            </a:r>
          </a:p>
        </p:txBody>
      </p:sp>
      <p:sp>
        <p:nvSpPr>
          <p:cNvPr id="7" name="Text 5">
            <a:extLst>
              <a:ext uri="{FF2B5EF4-FFF2-40B4-BE49-F238E27FC236}">
                <a16:creationId xmlns:a16="http://schemas.microsoft.com/office/drawing/2014/main" id="{59DA6203-63AF-9882-B25E-B067758190C0}"/>
              </a:ext>
            </a:extLst>
          </p:cNvPr>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a:t>
            </a:r>
            <a:endParaRPr lang="en-US" sz="1000" dirty="0"/>
          </a:p>
        </p:txBody>
      </p:sp>
    </p:spTree>
    <p:extLst>
      <p:ext uri="{BB962C8B-B14F-4D97-AF65-F5344CB8AC3E}">
        <p14:creationId xmlns:p14="http://schemas.microsoft.com/office/powerpoint/2010/main" val="673763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Text 1"/>
          <p:cNvSpPr/>
          <p:nvPr/>
        </p:nvSpPr>
        <p:spPr>
          <a:xfrm>
            <a:off x="822960" y="2148840"/>
            <a:ext cx="10058400" cy="457200"/>
          </a:xfrm>
          <a:prstGeom prst="rect">
            <a:avLst/>
          </a:prstGeom>
          <a:noFill/>
          <a:ln/>
        </p:spPr>
        <p:txBody>
          <a:bodyPr wrap="square" lIns="0" tIns="0" rIns="0" bIns="0" rtlCol="0" anchor="ctr"/>
          <a:lstStyle/>
          <a:p>
            <a:pPr marL="0" indent="0">
              <a:buNone/>
            </a:pPr>
            <a:r>
              <a:rPr lang="en-US" sz="1600" b="1" kern="0" spc="300" dirty="0">
                <a:solidFill>
                  <a:srgbClr val="D9A441"/>
                </a:solidFill>
                <a:latin typeface="Calibri" pitchFamily="34" charset="0"/>
                <a:ea typeface="Calibri" pitchFamily="34" charset="-122"/>
                <a:cs typeface="Calibri" pitchFamily="34" charset="-120"/>
              </a:rPr>
              <a:t>TELLCO TELECOM</a:t>
            </a:r>
            <a:endParaRPr lang="en-US" sz="1600" dirty="0"/>
          </a:p>
        </p:txBody>
      </p:sp>
      <p:sp>
        <p:nvSpPr>
          <p:cNvPr id="4" name="Text 2"/>
          <p:cNvSpPr/>
          <p:nvPr/>
        </p:nvSpPr>
        <p:spPr>
          <a:xfrm>
            <a:off x="777240" y="2514600"/>
            <a:ext cx="10515600" cy="118872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Acquisition Due Diligence</a:t>
            </a:r>
            <a:endParaRPr lang="en-US" sz="4600" dirty="0"/>
          </a:p>
        </p:txBody>
      </p:sp>
      <p:sp>
        <p:nvSpPr>
          <p:cNvPr id="5" name="Text 3"/>
          <p:cNvSpPr/>
          <p:nvPr/>
        </p:nvSpPr>
        <p:spPr>
          <a:xfrm>
            <a:off x="822960" y="3703320"/>
            <a:ext cx="9875520" cy="64008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data-driven view of user overview, engagement, network experience, and satisfaction</a:t>
            </a:r>
            <a:endParaRPr lang="en-US" sz="1800" dirty="0"/>
          </a:p>
        </p:txBody>
      </p:sp>
      <p:sp>
        <p:nvSpPr>
          <p:cNvPr id="6" name="Text 4"/>
          <p:cNvSpPr/>
          <p:nvPr/>
        </p:nvSpPr>
        <p:spPr>
          <a:xfrm>
            <a:off x="822960" y="5989320"/>
            <a:ext cx="10058400" cy="365760"/>
          </a:xfrm>
          <a:prstGeom prst="rect">
            <a:avLst/>
          </a:prstGeom>
          <a:noFill/>
          <a:ln/>
        </p:spPr>
        <p:txBody>
          <a:bodyPr wrap="square" lIns="0" tIns="0" rIns="0" bIns="0" rtlCol="0" anchor="ctr"/>
          <a:lstStyle/>
          <a:p>
            <a:pPr marL="0" indent="0">
              <a:buNone/>
            </a:pPr>
            <a:r>
              <a:rPr lang="en-US" sz="1300" dirty="0">
                <a:solidFill>
                  <a:srgbClr val="8C9BC9"/>
                </a:solidFill>
                <a:latin typeface="Calibri" pitchFamily="34" charset="0"/>
                <a:ea typeface="Calibri" pitchFamily="34" charset="-122"/>
                <a:cs typeface="Calibri" pitchFamily="34" charset="-120"/>
              </a:rPr>
              <a:t>Prepared for the Investor Due-Diligence Team  |  Nexthikes IT Solutions  |  Republic of Pefkakia</a:t>
            </a:r>
            <a:endParaRPr lang="en-US" sz="1300" dirty="0"/>
          </a:p>
        </p:txBody>
      </p:sp>
      <p:sp>
        <p:nvSpPr>
          <p:cNvPr id="7" name="Text 5"/>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BUSINESS CONTEXT</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Why This Analysis Matters</a:t>
            </a:r>
            <a:endParaRPr lang="en-US" sz="3000" dirty="0"/>
          </a:p>
        </p:txBody>
      </p:sp>
      <p:sp>
        <p:nvSpPr>
          <p:cNvPr id="4" name="Text 2"/>
          <p:cNvSpPr/>
          <p:nvPr/>
        </p:nvSpPr>
        <p:spPr>
          <a:xfrm>
            <a:off x="548640" y="1371600"/>
            <a:ext cx="6400800" cy="1828800"/>
          </a:xfrm>
          <a:prstGeom prst="rect">
            <a:avLst/>
          </a:prstGeom>
          <a:noFill/>
          <a:ln/>
        </p:spPr>
        <p:txBody>
          <a:bodyPr wrap="square" lIns="0" tIns="0" rIns="0" bIns="0" rtlCol="0" anchor="t"/>
          <a:lstStyle/>
          <a:p>
            <a:pPr marL="0" indent="0">
              <a:buNone/>
            </a:pPr>
            <a:r>
              <a:rPr lang="en-US" sz="1600" dirty="0">
                <a:solidFill>
                  <a:srgbClr val="1B1B2A"/>
                </a:solidFill>
                <a:latin typeface="Calibri" pitchFamily="34" charset="0"/>
                <a:ea typeface="Calibri" pitchFamily="34" charset="-122"/>
                <a:cs typeface="Calibri" pitchFamily="34" charset="-120"/>
              </a:rPr>
              <a:t>Our investor specializes in acquiring undervalued assets and driving profitability by refocusing the business on its most valuable customers and products. TellCo's current owners have shared financial data but have never analyzed their own system-generated network data.</a:t>
            </a:r>
            <a:endParaRPr lang="en-US" sz="1600" dirty="0"/>
          </a:p>
        </p:txBody>
      </p:sp>
      <p:sp>
        <p:nvSpPr>
          <p:cNvPr id="5" name="Text 3"/>
          <p:cNvSpPr/>
          <p:nvPr/>
        </p:nvSpPr>
        <p:spPr>
          <a:xfrm>
            <a:off x="548640" y="3383280"/>
            <a:ext cx="6400800" cy="23774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B1B2A"/>
                </a:solidFill>
                <a:latin typeface="Calibri" pitchFamily="34" charset="0"/>
                <a:ea typeface="Calibri" pitchFamily="34" charset="-122"/>
                <a:cs typeface="Calibri" pitchFamily="34" charset="-120"/>
              </a:rPr>
              <a:t>One month of xDR (session-level) network data analyzed</a:t>
            </a:r>
            <a:endParaRPr lang="en-US" sz="1500" dirty="0"/>
          </a:p>
          <a:p>
            <a:pPr marL="228600" indent="-228600">
              <a:spcAft>
                <a:spcPts val="1000"/>
              </a:spcAft>
              <a:buSzPct val="100000"/>
              <a:buChar char="●"/>
            </a:pPr>
            <a:r>
              <a:rPr lang="en-US" sz="1500" dirty="0">
                <a:solidFill>
                  <a:srgbClr val="1B1B2A"/>
                </a:solidFill>
                <a:latin typeface="Calibri" pitchFamily="34" charset="0"/>
                <a:ea typeface="Calibri" pitchFamily="34" charset="-122"/>
                <a:cs typeface="Calibri" pitchFamily="34" charset="-120"/>
              </a:rPr>
              <a:t>106,857 unique subscribers, 150,001 sessions</a:t>
            </a:r>
            <a:endParaRPr lang="en-US" sz="1500" dirty="0"/>
          </a:p>
          <a:p>
            <a:pPr marL="228600" indent="-228600">
              <a:spcAft>
                <a:spcPts val="1000"/>
              </a:spcAft>
              <a:buSzPct val="100000"/>
              <a:buChar char="●"/>
            </a:pPr>
            <a:r>
              <a:rPr lang="en-US" sz="1500" dirty="0">
                <a:solidFill>
                  <a:srgbClr val="1B1B2A"/>
                </a:solidFill>
                <a:latin typeface="Calibri" pitchFamily="34" charset="0"/>
                <a:ea typeface="Calibri" pitchFamily="34" charset="-122"/>
                <a:cs typeface="Calibri" pitchFamily="34" charset="-120"/>
              </a:rPr>
              <a:t>Four analysis stages: Overview, Engagement, Experience, Satisfaction</a:t>
            </a:r>
            <a:endParaRPr lang="en-US" sz="1500" dirty="0"/>
          </a:p>
          <a:p>
            <a:pPr marL="228600" indent="-228600">
              <a:spcAft>
                <a:spcPts val="1000"/>
              </a:spcAft>
              <a:buSzPct val="100000"/>
              <a:buChar char="●"/>
            </a:pPr>
            <a:r>
              <a:rPr lang="en-US" sz="1500" dirty="0">
                <a:solidFill>
                  <a:srgbClr val="1B1B2A"/>
                </a:solidFill>
                <a:latin typeface="Calibri" pitchFamily="34" charset="0"/>
                <a:ea typeface="Calibri" pitchFamily="34" charset="-122"/>
                <a:cs typeface="Calibri" pitchFamily="34" charset="-120"/>
              </a:rPr>
              <a:t>Goal: identify growth levers and a buy/sell recommendation</a:t>
            </a:r>
            <a:endParaRPr lang="en-US" sz="1500" dirty="0"/>
          </a:p>
        </p:txBody>
      </p:sp>
      <p:sp>
        <p:nvSpPr>
          <p:cNvPr id="6" name="Shape 4"/>
          <p:cNvSpPr/>
          <p:nvPr/>
        </p:nvSpPr>
        <p:spPr>
          <a:xfrm>
            <a:off x="7315200" y="1371600"/>
            <a:ext cx="4297680" cy="4754880"/>
          </a:xfrm>
          <a:prstGeom prst="roundRect">
            <a:avLst>
              <a:gd name="adj" fmla="val 1702"/>
            </a:avLst>
          </a:prstGeom>
          <a:solidFill>
            <a:srgbClr val="CADCFC"/>
          </a:solidFill>
          <a:ln/>
        </p:spPr>
      </p:sp>
      <p:sp>
        <p:nvSpPr>
          <p:cNvPr id="7" name="Text 5"/>
          <p:cNvSpPr/>
          <p:nvPr/>
        </p:nvSpPr>
        <p:spPr>
          <a:xfrm>
            <a:off x="7635240" y="1600200"/>
            <a:ext cx="365760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Precedent</a:t>
            </a:r>
            <a:endParaRPr lang="en-US" sz="1600" dirty="0"/>
          </a:p>
        </p:txBody>
      </p:sp>
      <p:sp>
        <p:nvSpPr>
          <p:cNvPr id="8" name="Text 6"/>
          <p:cNvSpPr/>
          <p:nvPr/>
        </p:nvSpPr>
        <p:spPr>
          <a:xfrm>
            <a:off x="7635240" y="2057400"/>
            <a:ext cx="3657600" cy="2743200"/>
          </a:xfrm>
          <a:prstGeom prst="rect">
            <a:avLst/>
          </a:prstGeom>
          <a:noFill/>
          <a:ln/>
        </p:spPr>
        <p:txBody>
          <a:bodyPr wrap="square" lIns="0" tIns="0" rIns="0" bIns="0" rtlCol="0" anchor="t"/>
          <a:lstStyle/>
          <a:p>
            <a:pPr marL="0" indent="0">
              <a:buNone/>
            </a:pPr>
            <a:r>
              <a:rPr lang="en-US" sz="1400" dirty="0">
                <a:solidFill>
                  <a:srgbClr val="1B1B2A"/>
                </a:solidFill>
                <a:latin typeface="Calibri" pitchFamily="34" charset="0"/>
                <a:ea typeface="Calibri" pitchFamily="34" charset="-122"/>
                <a:cs typeface="Calibri" pitchFamily="34" charset="-120"/>
              </a:rPr>
              <a:t>On a prior engagement, this same investor used rich data analysis to identify that university-student delivery routes were the most profitable segment for a delivery company -- driving a 25% profit increase in 6 months after acquisition. The same rigor is applied here to TellCo.</a:t>
            </a:r>
            <a:endParaRPr lang="en-US" sz="1400" dirty="0"/>
          </a:p>
        </p:txBody>
      </p:sp>
      <p:sp>
        <p:nvSpPr>
          <p:cNvPr id="9" name="Text 7"/>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EXECUTIVE SUMMARY</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Conditional Buy</a:t>
            </a:r>
            <a:endParaRPr lang="en-US" sz="4000" dirty="0"/>
          </a:p>
        </p:txBody>
      </p:sp>
      <p:sp>
        <p:nvSpPr>
          <p:cNvPr id="4" name="Text 2"/>
          <p:cNvSpPr/>
          <p:nvPr/>
        </p:nvSpPr>
        <p:spPr>
          <a:xfrm>
            <a:off x="548640" y="1234440"/>
            <a:ext cx="10789920" cy="731520"/>
          </a:xfrm>
          <a:prstGeom prst="rect">
            <a:avLst/>
          </a:prstGeom>
          <a:noFill/>
          <a:ln/>
        </p:spPr>
        <p:txBody>
          <a:bodyPr wrap="square" lIns="0" tIns="0" rIns="0" bIns="0"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A large, actively engaged, premium-skewed subscriber base with clear monetization levers -- offset by network telemetry gaps and quality issues a buyer should price in.</a:t>
            </a:r>
            <a:endParaRPr lang="en-US" sz="1700" dirty="0"/>
          </a:p>
        </p:txBody>
      </p:sp>
      <p:sp>
        <p:nvSpPr>
          <p:cNvPr id="5" name="Shape 3"/>
          <p:cNvSpPr/>
          <p:nvPr/>
        </p:nvSpPr>
        <p:spPr>
          <a:xfrm>
            <a:off x="548640" y="2331720"/>
            <a:ext cx="2606040" cy="1554480"/>
          </a:xfrm>
          <a:prstGeom prst="roundRect">
            <a:avLst>
              <a:gd name="adj" fmla="val 4706"/>
            </a:avLst>
          </a:prstGeom>
          <a:solidFill>
            <a:srgbClr val="273580"/>
          </a:solidFill>
          <a:ln/>
        </p:spPr>
      </p:sp>
      <p:sp>
        <p:nvSpPr>
          <p:cNvPr id="6" name="Text 4"/>
          <p:cNvSpPr/>
          <p:nvPr/>
        </p:nvSpPr>
        <p:spPr>
          <a:xfrm>
            <a:off x="731520" y="2468880"/>
            <a:ext cx="2240280" cy="793699"/>
          </a:xfrm>
          <a:prstGeom prst="rect">
            <a:avLst/>
          </a:prstGeom>
          <a:noFill/>
          <a:ln/>
        </p:spPr>
        <p:txBody>
          <a:bodyPr wrap="square" lIns="0" tIns="0" rIns="0" bIns="0" rtlCol="0" anchor="b"/>
          <a:lstStyle/>
          <a:p>
            <a:pPr marL="0" indent="0" algn="l">
              <a:buNone/>
            </a:pPr>
            <a:r>
              <a:rPr lang="en-US" sz="3400" b="1" dirty="0">
                <a:solidFill>
                  <a:srgbClr val="D9A441"/>
                </a:solidFill>
                <a:latin typeface="Cambria" pitchFamily="34" charset="0"/>
                <a:ea typeface="Cambria" pitchFamily="34" charset="-122"/>
                <a:cs typeface="Cambria" pitchFamily="34" charset="-120"/>
              </a:rPr>
              <a:t>106,857</a:t>
            </a:r>
            <a:endParaRPr lang="en-US" sz="3400" dirty="0"/>
          </a:p>
        </p:txBody>
      </p:sp>
      <p:sp>
        <p:nvSpPr>
          <p:cNvPr id="7" name="Text 5"/>
          <p:cNvSpPr/>
          <p:nvPr/>
        </p:nvSpPr>
        <p:spPr>
          <a:xfrm>
            <a:off x="731520" y="3262579"/>
            <a:ext cx="2240280" cy="486461"/>
          </a:xfrm>
          <a:prstGeom prst="rect">
            <a:avLst/>
          </a:prstGeom>
          <a:noFill/>
          <a:ln/>
        </p:spPr>
        <p:txBody>
          <a:bodyPr wrap="square" lIns="0" tIns="0" rIns="0" bIns="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Unique subscribers</a:t>
            </a:r>
            <a:endParaRPr lang="en-US" sz="1200" dirty="0"/>
          </a:p>
        </p:txBody>
      </p:sp>
      <p:sp>
        <p:nvSpPr>
          <p:cNvPr id="8" name="Shape 6"/>
          <p:cNvSpPr/>
          <p:nvPr/>
        </p:nvSpPr>
        <p:spPr>
          <a:xfrm>
            <a:off x="3383280" y="2331720"/>
            <a:ext cx="2606040" cy="1554480"/>
          </a:xfrm>
          <a:prstGeom prst="roundRect">
            <a:avLst>
              <a:gd name="adj" fmla="val 4706"/>
            </a:avLst>
          </a:prstGeom>
          <a:solidFill>
            <a:srgbClr val="273580"/>
          </a:solidFill>
          <a:ln/>
        </p:spPr>
      </p:sp>
      <p:sp>
        <p:nvSpPr>
          <p:cNvPr id="9" name="Text 7"/>
          <p:cNvSpPr/>
          <p:nvPr/>
        </p:nvSpPr>
        <p:spPr>
          <a:xfrm>
            <a:off x="3566160" y="2468880"/>
            <a:ext cx="2240280" cy="793699"/>
          </a:xfrm>
          <a:prstGeom prst="rect">
            <a:avLst/>
          </a:prstGeom>
          <a:noFill/>
          <a:ln/>
        </p:spPr>
        <p:txBody>
          <a:bodyPr wrap="square" lIns="0" tIns="0" rIns="0" bIns="0" rtlCol="0" anchor="b"/>
          <a:lstStyle/>
          <a:p>
            <a:pPr marL="0" indent="0" algn="l">
              <a:buNone/>
            </a:pPr>
            <a:r>
              <a:rPr lang="en-US" sz="3400" b="1" dirty="0">
                <a:solidFill>
                  <a:srgbClr val="D9A441"/>
                </a:solidFill>
                <a:latin typeface="Cambria" pitchFamily="34" charset="0"/>
                <a:ea typeface="Cambria" pitchFamily="34" charset="-122"/>
                <a:cs typeface="Cambria" pitchFamily="34" charset="-120"/>
              </a:rPr>
              <a:t>150,001</a:t>
            </a:r>
            <a:endParaRPr lang="en-US" sz="3400" dirty="0"/>
          </a:p>
        </p:txBody>
      </p:sp>
      <p:sp>
        <p:nvSpPr>
          <p:cNvPr id="10" name="Text 8"/>
          <p:cNvSpPr/>
          <p:nvPr/>
        </p:nvSpPr>
        <p:spPr>
          <a:xfrm>
            <a:off x="3566160" y="3262579"/>
            <a:ext cx="2240280" cy="486461"/>
          </a:xfrm>
          <a:prstGeom prst="rect">
            <a:avLst/>
          </a:prstGeom>
          <a:noFill/>
          <a:ln/>
        </p:spPr>
        <p:txBody>
          <a:bodyPr wrap="square" lIns="0" tIns="0" rIns="0" bIns="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xDR sessions analyzed</a:t>
            </a:r>
            <a:endParaRPr lang="en-US" sz="1200" dirty="0"/>
          </a:p>
        </p:txBody>
      </p:sp>
      <p:sp>
        <p:nvSpPr>
          <p:cNvPr id="11" name="Shape 9"/>
          <p:cNvSpPr/>
          <p:nvPr/>
        </p:nvSpPr>
        <p:spPr>
          <a:xfrm>
            <a:off x="6217920" y="2331720"/>
            <a:ext cx="2606040" cy="1554480"/>
          </a:xfrm>
          <a:prstGeom prst="roundRect">
            <a:avLst>
              <a:gd name="adj" fmla="val 4706"/>
            </a:avLst>
          </a:prstGeom>
          <a:solidFill>
            <a:srgbClr val="273580"/>
          </a:solidFill>
          <a:ln/>
        </p:spPr>
      </p:sp>
      <p:sp>
        <p:nvSpPr>
          <p:cNvPr id="12" name="Text 10"/>
          <p:cNvSpPr/>
          <p:nvPr/>
        </p:nvSpPr>
        <p:spPr>
          <a:xfrm>
            <a:off x="6400800" y="2468880"/>
            <a:ext cx="2240280" cy="793699"/>
          </a:xfrm>
          <a:prstGeom prst="rect">
            <a:avLst/>
          </a:prstGeom>
          <a:noFill/>
          <a:ln/>
        </p:spPr>
        <p:txBody>
          <a:bodyPr wrap="square" lIns="0" tIns="0" rIns="0" bIns="0" rtlCol="0" anchor="b"/>
          <a:lstStyle/>
          <a:p>
            <a:pPr marL="0" indent="0" algn="l">
              <a:buNone/>
            </a:pPr>
            <a:r>
              <a:rPr lang="en-US" sz="3400" b="1" dirty="0">
                <a:solidFill>
                  <a:srgbClr val="D9A441"/>
                </a:solidFill>
                <a:latin typeface="Cambria" pitchFamily="34" charset="0"/>
                <a:ea typeface="Cambria" pitchFamily="34" charset="-122"/>
                <a:cs typeface="Cambria" pitchFamily="34" charset="-120"/>
              </a:rPr>
              <a:t>58.7 TB</a:t>
            </a:r>
            <a:endParaRPr lang="en-US" sz="3400" dirty="0"/>
          </a:p>
        </p:txBody>
      </p:sp>
      <p:sp>
        <p:nvSpPr>
          <p:cNvPr id="13" name="Text 11"/>
          <p:cNvSpPr/>
          <p:nvPr/>
        </p:nvSpPr>
        <p:spPr>
          <a:xfrm>
            <a:off x="6400800" y="3262579"/>
            <a:ext cx="2240280" cy="486461"/>
          </a:xfrm>
          <a:prstGeom prst="rect">
            <a:avLst/>
          </a:prstGeom>
          <a:noFill/>
          <a:ln/>
        </p:spPr>
        <p:txBody>
          <a:bodyPr wrap="square" lIns="0" tIns="0" rIns="0" bIns="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Gaming data volume (top app)</a:t>
            </a:r>
            <a:endParaRPr lang="en-US" sz="1200" dirty="0"/>
          </a:p>
        </p:txBody>
      </p:sp>
      <p:sp>
        <p:nvSpPr>
          <p:cNvPr id="14" name="Shape 12"/>
          <p:cNvSpPr/>
          <p:nvPr/>
        </p:nvSpPr>
        <p:spPr>
          <a:xfrm>
            <a:off x="9052560" y="2331720"/>
            <a:ext cx="2606040" cy="1554480"/>
          </a:xfrm>
          <a:prstGeom prst="roundRect">
            <a:avLst>
              <a:gd name="adj" fmla="val 4706"/>
            </a:avLst>
          </a:prstGeom>
          <a:solidFill>
            <a:srgbClr val="273580"/>
          </a:solidFill>
          <a:ln/>
        </p:spPr>
      </p:sp>
      <p:sp>
        <p:nvSpPr>
          <p:cNvPr id="15" name="Text 13"/>
          <p:cNvSpPr/>
          <p:nvPr/>
        </p:nvSpPr>
        <p:spPr>
          <a:xfrm>
            <a:off x="9235440" y="2468880"/>
            <a:ext cx="2240280" cy="793699"/>
          </a:xfrm>
          <a:prstGeom prst="rect">
            <a:avLst/>
          </a:prstGeom>
          <a:noFill/>
          <a:ln/>
        </p:spPr>
        <p:txBody>
          <a:bodyPr wrap="square" lIns="0" tIns="0" rIns="0" bIns="0" rtlCol="0" anchor="b"/>
          <a:lstStyle/>
          <a:p>
            <a:pPr marL="0" indent="0" algn="l">
              <a:buNone/>
            </a:pPr>
            <a:r>
              <a:rPr lang="en-US" sz="3400" b="1" dirty="0">
                <a:solidFill>
                  <a:srgbClr val="D9A441"/>
                </a:solidFill>
                <a:latin typeface="Cambria" pitchFamily="34" charset="0"/>
                <a:ea typeface="Cambria" pitchFamily="34" charset="-122"/>
                <a:cs typeface="Cambria" pitchFamily="34" charset="-120"/>
              </a:rPr>
              <a:t>95%</a:t>
            </a:r>
            <a:endParaRPr lang="en-US" sz="3400" dirty="0"/>
          </a:p>
        </p:txBody>
      </p:sp>
      <p:sp>
        <p:nvSpPr>
          <p:cNvPr id="16" name="Text 14"/>
          <p:cNvSpPr/>
          <p:nvPr/>
        </p:nvSpPr>
        <p:spPr>
          <a:xfrm>
            <a:off x="9235440" y="3262579"/>
            <a:ext cx="2240280" cy="486461"/>
          </a:xfrm>
          <a:prstGeom prst="rect">
            <a:avLst/>
          </a:prstGeom>
          <a:noFill/>
          <a:ln/>
        </p:spPr>
        <p:txBody>
          <a:bodyPr wrap="square" lIns="0" tIns="0" rIns="0" bIns="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Satisfaction variance explained by usage</a:t>
            </a:r>
            <a:endParaRPr lang="en-US" sz="1200" dirty="0"/>
          </a:p>
        </p:txBody>
      </p:sp>
      <p:sp>
        <p:nvSpPr>
          <p:cNvPr id="17" name="Text 15"/>
          <p:cNvSpPr/>
          <p:nvPr/>
        </p:nvSpPr>
        <p:spPr>
          <a:xfrm>
            <a:off x="548640" y="4297680"/>
            <a:ext cx="10789920" cy="201168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Premium device base (Apple/Samsung/Huawei) signals real spending power</a:t>
            </a:r>
            <a:endParaRPr lang="en-US" sz="1500" dirty="0"/>
          </a:p>
          <a:p>
            <a:pPr marL="228600" indent="-2286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Distinct fixed-wireless broadband segment (Huawei router users) is underexploited</a:t>
            </a:r>
            <a:endParaRPr lang="en-US" sz="1500" dirty="0"/>
          </a:p>
          <a:p>
            <a:pPr marL="228600" indent="-2286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Network quality varies materially by handset -- remediation opportunity</a:t>
            </a:r>
            <a:endParaRPr lang="en-US" sz="1500" dirty="0"/>
          </a:p>
          <a:p>
            <a:pPr marL="228600" indent="-2286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Recommend a price adjustment or escrow for network-infrastructure investment</a:t>
            </a:r>
            <a:endParaRPr lang="en-US" sz="1500" dirty="0"/>
          </a:p>
        </p:txBody>
      </p:sp>
      <p:sp>
        <p:nvSpPr>
          <p:cNvPr id="18" name="Text 16"/>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APPROACH</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Methodology &amp; Data Notes</a:t>
            </a:r>
            <a:endParaRPr lang="en-US" sz="3000" dirty="0"/>
          </a:p>
        </p:txBody>
      </p:sp>
      <p:sp>
        <p:nvSpPr>
          <p:cNvPr id="4" name="Shape 2"/>
          <p:cNvSpPr/>
          <p:nvPr/>
        </p:nvSpPr>
        <p:spPr>
          <a:xfrm>
            <a:off x="548640" y="1554480"/>
            <a:ext cx="2606040" cy="4206240"/>
          </a:xfrm>
          <a:prstGeom prst="roundRect">
            <a:avLst>
              <a:gd name="adj" fmla="val 2807"/>
            </a:avLst>
          </a:prstGeom>
          <a:solidFill>
            <a:srgbClr val="CADCFC"/>
          </a:solidFill>
          <a:ln/>
        </p:spPr>
      </p:sp>
      <p:sp>
        <p:nvSpPr>
          <p:cNvPr id="5" name="Shape 3"/>
          <p:cNvSpPr/>
          <p:nvPr/>
        </p:nvSpPr>
        <p:spPr>
          <a:xfrm>
            <a:off x="777240" y="1828800"/>
            <a:ext cx="548640" cy="548640"/>
          </a:xfrm>
          <a:prstGeom prst="ellipse">
            <a:avLst/>
          </a:prstGeom>
          <a:solidFill>
            <a:srgbClr val="D9A441"/>
          </a:solidFill>
          <a:ln/>
        </p:spPr>
      </p:sp>
      <p:sp>
        <p:nvSpPr>
          <p:cNvPr id="6" name="Text 4"/>
          <p:cNvSpPr/>
          <p:nvPr/>
        </p:nvSpPr>
        <p:spPr>
          <a:xfrm>
            <a:off x="777240" y="1828800"/>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777240" y="2560320"/>
            <a:ext cx="2148840"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Clean</a:t>
            </a:r>
            <a:endParaRPr lang="en-US" sz="1800" dirty="0"/>
          </a:p>
        </p:txBody>
      </p:sp>
      <p:sp>
        <p:nvSpPr>
          <p:cNvPr id="8" name="Text 6"/>
          <p:cNvSpPr/>
          <p:nvPr/>
        </p:nvSpPr>
        <p:spPr>
          <a:xfrm>
            <a:off x="777240" y="3063240"/>
            <a:ext cx="2148840" cy="246888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Missing values imputed with column mean/mode; extreme outliers capped at 3x IQR</a:t>
            </a:r>
            <a:endParaRPr lang="en-US" sz="1300" dirty="0"/>
          </a:p>
        </p:txBody>
      </p:sp>
      <p:sp>
        <p:nvSpPr>
          <p:cNvPr id="9" name="Shape 7"/>
          <p:cNvSpPr/>
          <p:nvPr/>
        </p:nvSpPr>
        <p:spPr>
          <a:xfrm>
            <a:off x="3383280" y="1554480"/>
            <a:ext cx="2606040" cy="4206240"/>
          </a:xfrm>
          <a:prstGeom prst="roundRect">
            <a:avLst>
              <a:gd name="adj" fmla="val 2807"/>
            </a:avLst>
          </a:prstGeom>
          <a:solidFill>
            <a:srgbClr val="CADCFC"/>
          </a:solidFill>
          <a:ln/>
        </p:spPr>
      </p:sp>
      <p:sp>
        <p:nvSpPr>
          <p:cNvPr id="10" name="Shape 8"/>
          <p:cNvSpPr/>
          <p:nvPr/>
        </p:nvSpPr>
        <p:spPr>
          <a:xfrm>
            <a:off x="3611880" y="1828800"/>
            <a:ext cx="548640" cy="548640"/>
          </a:xfrm>
          <a:prstGeom prst="ellipse">
            <a:avLst/>
          </a:prstGeom>
          <a:solidFill>
            <a:srgbClr val="D9A441"/>
          </a:solidFill>
          <a:ln/>
        </p:spPr>
      </p:sp>
      <p:sp>
        <p:nvSpPr>
          <p:cNvPr id="11" name="Text 9"/>
          <p:cNvSpPr/>
          <p:nvPr/>
        </p:nvSpPr>
        <p:spPr>
          <a:xfrm>
            <a:off x="3611880" y="1828800"/>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3611880" y="2560320"/>
            <a:ext cx="2148840"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Aggregate</a:t>
            </a:r>
            <a:endParaRPr lang="en-US" sz="1800" dirty="0"/>
          </a:p>
        </p:txBody>
      </p:sp>
      <p:sp>
        <p:nvSpPr>
          <p:cNvPr id="13" name="Text 11"/>
          <p:cNvSpPr/>
          <p:nvPr/>
        </p:nvSpPr>
        <p:spPr>
          <a:xfrm>
            <a:off x="3611880" y="3063240"/>
            <a:ext cx="2148840" cy="246888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Session-level xDR rows rolled up to per-subscriber (MSISDN) features</a:t>
            </a:r>
            <a:endParaRPr lang="en-US" sz="1300" dirty="0"/>
          </a:p>
        </p:txBody>
      </p:sp>
      <p:sp>
        <p:nvSpPr>
          <p:cNvPr id="14" name="Shape 12"/>
          <p:cNvSpPr/>
          <p:nvPr/>
        </p:nvSpPr>
        <p:spPr>
          <a:xfrm>
            <a:off x="6217920" y="1554480"/>
            <a:ext cx="2606040" cy="4206240"/>
          </a:xfrm>
          <a:prstGeom prst="roundRect">
            <a:avLst>
              <a:gd name="adj" fmla="val 2807"/>
            </a:avLst>
          </a:prstGeom>
          <a:solidFill>
            <a:srgbClr val="CADCFC"/>
          </a:solidFill>
          <a:ln/>
        </p:spPr>
      </p:sp>
      <p:sp>
        <p:nvSpPr>
          <p:cNvPr id="15" name="Shape 13"/>
          <p:cNvSpPr/>
          <p:nvPr/>
        </p:nvSpPr>
        <p:spPr>
          <a:xfrm>
            <a:off x="6446520" y="1828800"/>
            <a:ext cx="548640" cy="548640"/>
          </a:xfrm>
          <a:prstGeom prst="ellipse">
            <a:avLst/>
          </a:prstGeom>
          <a:solidFill>
            <a:srgbClr val="D9A441"/>
          </a:solidFill>
          <a:ln/>
        </p:spPr>
      </p:sp>
      <p:sp>
        <p:nvSpPr>
          <p:cNvPr id="16" name="Text 14"/>
          <p:cNvSpPr/>
          <p:nvPr/>
        </p:nvSpPr>
        <p:spPr>
          <a:xfrm>
            <a:off x="6446520" y="1828800"/>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6446520" y="2560320"/>
            <a:ext cx="2148840"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Model</a:t>
            </a:r>
            <a:endParaRPr lang="en-US" sz="1800" dirty="0"/>
          </a:p>
        </p:txBody>
      </p:sp>
      <p:sp>
        <p:nvSpPr>
          <p:cNvPr id="18" name="Text 16"/>
          <p:cNvSpPr/>
          <p:nvPr/>
        </p:nvSpPr>
        <p:spPr>
          <a:xfrm>
            <a:off x="6446520" y="3063240"/>
            <a:ext cx="2148840" cy="246888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K-Means clustering, PCA, and linear regression applied to engagement &amp; experience metrics</a:t>
            </a:r>
            <a:endParaRPr lang="en-US" sz="1300" dirty="0"/>
          </a:p>
        </p:txBody>
      </p:sp>
      <p:sp>
        <p:nvSpPr>
          <p:cNvPr id="19" name="Shape 17"/>
          <p:cNvSpPr/>
          <p:nvPr/>
        </p:nvSpPr>
        <p:spPr>
          <a:xfrm>
            <a:off x="9052560" y="1554480"/>
            <a:ext cx="2606040" cy="4206240"/>
          </a:xfrm>
          <a:prstGeom prst="roundRect">
            <a:avLst>
              <a:gd name="adj" fmla="val 2807"/>
            </a:avLst>
          </a:prstGeom>
          <a:solidFill>
            <a:srgbClr val="CADCFC"/>
          </a:solidFill>
          <a:ln/>
        </p:spPr>
      </p:sp>
      <p:sp>
        <p:nvSpPr>
          <p:cNvPr id="20" name="Shape 18"/>
          <p:cNvSpPr/>
          <p:nvPr/>
        </p:nvSpPr>
        <p:spPr>
          <a:xfrm>
            <a:off x="9281160" y="1828800"/>
            <a:ext cx="548640" cy="548640"/>
          </a:xfrm>
          <a:prstGeom prst="ellipse">
            <a:avLst/>
          </a:prstGeom>
          <a:solidFill>
            <a:srgbClr val="D9A441"/>
          </a:solidFill>
          <a:ln/>
        </p:spPr>
      </p:sp>
      <p:sp>
        <p:nvSpPr>
          <p:cNvPr id="21" name="Text 19"/>
          <p:cNvSpPr/>
          <p:nvPr/>
        </p:nvSpPr>
        <p:spPr>
          <a:xfrm>
            <a:off x="9281160" y="1828800"/>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9281160" y="2560320"/>
            <a:ext cx="2148840"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Score</a:t>
            </a:r>
            <a:endParaRPr lang="en-US" sz="1800" dirty="0"/>
          </a:p>
        </p:txBody>
      </p:sp>
      <p:sp>
        <p:nvSpPr>
          <p:cNvPr id="23" name="Text 21"/>
          <p:cNvSpPr/>
          <p:nvPr/>
        </p:nvSpPr>
        <p:spPr>
          <a:xfrm>
            <a:off x="9281160" y="3063240"/>
            <a:ext cx="2148840" cy="246888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Engagement + experience distances combined into a satisfaction score per subscriber</a:t>
            </a:r>
            <a:endParaRPr lang="en-US" sz="1300" dirty="0"/>
          </a:p>
        </p:txBody>
      </p:sp>
      <p:sp>
        <p:nvSpPr>
          <p:cNvPr id="24" name="Text 22"/>
          <p:cNvSpPr/>
          <p:nvPr/>
        </p:nvSpPr>
        <p:spPr>
          <a:xfrm>
            <a:off x="548640" y="6473952"/>
            <a:ext cx="9144000" cy="274320"/>
          </a:xfrm>
          <a:prstGeom prst="rect">
            <a:avLst/>
          </a:prstGeom>
          <a:noFill/>
          <a:ln/>
        </p:spPr>
        <p:txBody>
          <a:bodyPr wrap="square" lIns="0" tIns="0" rIns="0" bIns="0" rtlCol="0" anchor="ctr"/>
          <a:lstStyle/>
          <a:p>
            <a:pPr marL="0" indent="0">
              <a:buNone/>
            </a:pPr>
            <a:r>
              <a:rPr lang="en-US" sz="1000" i="1" dirty="0">
                <a:solidFill>
                  <a:srgbClr val="5A6B8C"/>
                </a:solidFill>
                <a:latin typeface="Calibri" pitchFamily="34" charset="0"/>
                <a:ea typeface="Calibri" pitchFamily="34" charset="-122"/>
                <a:cs typeface="Calibri" pitchFamily="34" charset="-120"/>
              </a:rPr>
              <a:t>Modeling used a dependency-free numpy toolkit (scikit-learn-API-compatible); see code repository README.</a:t>
            </a:r>
            <a:endParaRPr lang="en-US" sz="1000" dirty="0"/>
          </a:p>
        </p:txBody>
      </p:sp>
      <p:sp>
        <p:nvSpPr>
          <p:cNvPr id="25" name="Text 23"/>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1 - USER OVERVIEW</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Handset &amp; Manufacturer Landscape</a:t>
            </a:r>
            <a:endParaRPr lang="en-US" sz="3000" dirty="0"/>
          </a:p>
        </p:txBody>
      </p:sp>
      <p:pic>
        <p:nvPicPr>
          <p:cNvPr id="4" name="Image 0" descr="/sessions/bold-loving-darwin/mnt/outputs/tellco-analysis/figures/top10_handsets.png"/>
          <p:cNvPicPr>
            <a:picLocks noChangeAspect="1"/>
          </p:cNvPicPr>
          <p:nvPr/>
        </p:nvPicPr>
        <p:blipFill>
          <a:blip r:embed="rId3"/>
          <a:stretch>
            <a:fillRect/>
          </a:stretch>
        </p:blipFill>
        <p:spPr>
          <a:xfrm>
            <a:off x="548640" y="2062480"/>
            <a:ext cx="6400800" cy="3556000"/>
          </a:xfrm>
          <a:prstGeom prst="rect">
            <a:avLst/>
          </a:prstGeom>
        </p:spPr>
      </p:pic>
      <p:sp>
        <p:nvSpPr>
          <p:cNvPr id="5" name="Shape 2"/>
          <p:cNvSpPr/>
          <p:nvPr/>
        </p:nvSpPr>
        <p:spPr>
          <a:xfrm>
            <a:off x="7223760" y="1417320"/>
            <a:ext cx="4434840" cy="4846320"/>
          </a:xfrm>
          <a:prstGeom prst="roundRect">
            <a:avLst>
              <a:gd name="adj" fmla="val 1649"/>
            </a:avLst>
          </a:prstGeom>
          <a:solidFill>
            <a:srgbClr val="CADCFC"/>
          </a:solidFill>
          <a:ln/>
        </p:spPr>
      </p:sp>
      <p:sp>
        <p:nvSpPr>
          <p:cNvPr id="6" name="Text 3"/>
          <p:cNvSpPr/>
          <p:nvPr/>
        </p:nvSpPr>
        <p:spPr>
          <a:xfrm>
            <a:off x="7498080" y="1645920"/>
            <a:ext cx="384048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Top 3 Manufacturers</a:t>
            </a:r>
            <a:endParaRPr lang="en-US" sz="1600" dirty="0"/>
          </a:p>
        </p:txBody>
      </p:sp>
      <p:sp>
        <p:nvSpPr>
          <p:cNvPr id="7" name="Text 4"/>
          <p:cNvSpPr/>
          <p:nvPr/>
        </p:nvSpPr>
        <p:spPr>
          <a:xfrm>
            <a:off x="7498080" y="2148840"/>
            <a:ext cx="3840480" cy="680314"/>
          </a:xfrm>
          <a:prstGeom prst="rect">
            <a:avLst/>
          </a:prstGeom>
          <a:noFill/>
          <a:ln/>
        </p:spPr>
        <p:txBody>
          <a:bodyPr wrap="square" lIns="0" tIns="0" rIns="0" bIns="0" rtlCol="0" anchor="b"/>
          <a:lstStyle/>
          <a:p>
            <a:pPr marL="0" indent="0" algn="l">
              <a:buNone/>
            </a:pPr>
            <a:r>
              <a:rPr lang="en-US" sz="2600" b="1" dirty="0">
                <a:solidFill>
                  <a:srgbClr val="1E2761"/>
                </a:solidFill>
                <a:latin typeface="Cambria" pitchFamily="34" charset="0"/>
                <a:ea typeface="Cambria" pitchFamily="34" charset="-122"/>
                <a:cs typeface="Cambria" pitchFamily="34" charset="-120"/>
              </a:rPr>
              <a:t>60,137</a:t>
            </a:r>
            <a:endParaRPr lang="en-US" sz="2600" dirty="0"/>
          </a:p>
        </p:txBody>
      </p:sp>
      <p:sp>
        <p:nvSpPr>
          <p:cNvPr id="8" name="Text 5"/>
          <p:cNvSpPr/>
          <p:nvPr/>
        </p:nvSpPr>
        <p:spPr>
          <a:xfrm>
            <a:off x="7498080" y="2829154"/>
            <a:ext cx="3840480" cy="416966"/>
          </a:xfrm>
          <a:prstGeom prst="rect">
            <a:avLst/>
          </a:prstGeom>
          <a:noFill/>
          <a:ln/>
        </p:spPr>
        <p:txBody>
          <a:bodyPr wrap="square" lIns="0" tIns="0" rIns="0" bIns="0" rtlCol="0" anchor="t"/>
          <a:lstStyle/>
          <a:p>
            <a:pPr marL="0" indent="0" algn="l">
              <a:buNone/>
            </a:pPr>
            <a:r>
              <a:rPr lang="en-US" sz="1200" dirty="0">
                <a:solidFill>
                  <a:srgbClr val="1B1B2A"/>
                </a:solidFill>
                <a:latin typeface="Calibri" pitchFamily="34" charset="0"/>
                <a:ea typeface="Calibri" pitchFamily="34" charset="-122"/>
                <a:cs typeface="Calibri" pitchFamily="34" charset="-120"/>
              </a:rPr>
              <a:t>Apple</a:t>
            </a:r>
            <a:endParaRPr lang="en-US" sz="1200" dirty="0"/>
          </a:p>
        </p:txBody>
      </p:sp>
      <p:sp>
        <p:nvSpPr>
          <p:cNvPr id="9" name="Text 6"/>
          <p:cNvSpPr/>
          <p:nvPr/>
        </p:nvSpPr>
        <p:spPr>
          <a:xfrm>
            <a:off x="7498080" y="3429000"/>
            <a:ext cx="3840480" cy="680314"/>
          </a:xfrm>
          <a:prstGeom prst="rect">
            <a:avLst/>
          </a:prstGeom>
          <a:noFill/>
          <a:ln/>
        </p:spPr>
        <p:txBody>
          <a:bodyPr wrap="square" lIns="0" tIns="0" rIns="0" bIns="0" rtlCol="0" anchor="b"/>
          <a:lstStyle/>
          <a:p>
            <a:pPr marL="0" indent="0" algn="l">
              <a:buNone/>
            </a:pPr>
            <a:r>
              <a:rPr lang="en-US" sz="2600" b="1" dirty="0">
                <a:solidFill>
                  <a:srgbClr val="1E2761"/>
                </a:solidFill>
                <a:latin typeface="Cambria" pitchFamily="34" charset="0"/>
                <a:ea typeface="Cambria" pitchFamily="34" charset="-122"/>
                <a:cs typeface="Cambria" pitchFamily="34" charset="-120"/>
              </a:rPr>
              <a:t>40,839</a:t>
            </a:r>
            <a:endParaRPr lang="en-US" sz="2600" dirty="0"/>
          </a:p>
        </p:txBody>
      </p:sp>
      <p:sp>
        <p:nvSpPr>
          <p:cNvPr id="10" name="Text 7"/>
          <p:cNvSpPr/>
          <p:nvPr/>
        </p:nvSpPr>
        <p:spPr>
          <a:xfrm>
            <a:off x="7498080" y="4109314"/>
            <a:ext cx="3840480" cy="416966"/>
          </a:xfrm>
          <a:prstGeom prst="rect">
            <a:avLst/>
          </a:prstGeom>
          <a:noFill/>
          <a:ln/>
        </p:spPr>
        <p:txBody>
          <a:bodyPr wrap="square" lIns="0" tIns="0" rIns="0" bIns="0" rtlCol="0" anchor="t"/>
          <a:lstStyle/>
          <a:p>
            <a:pPr marL="0" indent="0" algn="l">
              <a:buNone/>
            </a:pPr>
            <a:r>
              <a:rPr lang="en-US" sz="1200" dirty="0">
                <a:solidFill>
                  <a:srgbClr val="1B1B2A"/>
                </a:solidFill>
                <a:latin typeface="Calibri" pitchFamily="34" charset="0"/>
                <a:ea typeface="Calibri" pitchFamily="34" charset="-122"/>
                <a:cs typeface="Calibri" pitchFamily="34" charset="-120"/>
              </a:rPr>
              <a:t>Samsung</a:t>
            </a:r>
            <a:endParaRPr lang="en-US" sz="1200" dirty="0"/>
          </a:p>
        </p:txBody>
      </p:sp>
      <p:sp>
        <p:nvSpPr>
          <p:cNvPr id="11" name="Text 8"/>
          <p:cNvSpPr/>
          <p:nvPr/>
        </p:nvSpPr>
        <p:spPr>
          <a:xfrm>
            <a:off x="7498080" y="4709160"/>
            <a:ext cx="3840480" cy="680314"/>
          </a:xfrm>
          <a:prstGeom prst="rect">
            <a:avLst/>
          </a:prstGeom>
          <a:noFill/>
          <a:ln/>
        </p:spPr>
        <p:txBody>
          <a:bodyPr wrap="square" lIns="0" tIns="0" rIns="0" bIns="0" rtlCol="0" anchor="b"/>
          <a:lstStyle/>
          <a:p>
            <a:pPr marL="0" indent="0" algn="l">
              <a:buNone/>
            </a:pPr>
            <a:r>
              <a:rPr lang="en-US" sz="2600" b="1" dirty="0">
                <a:solidFill>
                  <a:srgbClr val="1E2761"/>
                </a:solidFill>
                <a:latin typeface="Cambria" pitchFamily="34" charset="0"/>
                <a:ea typeface="Cambria" pitchFamily="34" charset="-122"/>
                <a:cs typeface="Cambria" pitchFamily="34" charset="-120"/>
              </a:rPr>
              <a:t>34,423</a:t>
            </a:r>
            <a:endParaRPr lang="en-US" sz="2600" dirty="0"/>
          </a:p>
        </p:txBody>
      </p:sp>
      <p:sp>
        <p:nvSpPr>
          <p:cNvPr id="12" name="Text 9"/>
          <p:cNvSpPr/>
          <p:nvPr/>
        </p:nvSpPr>
        <p:spPr>
          <a:xfrm>
            <a:off x="7498080" y="5389474"/>
            <a:ext cx="3840480" cy="416966"/>
          </a:xfrm>
          <a:prstGeom prst="rect">
            <a:avLst/>
          </a:prstGeom>
          <a:noFill/>
          <a:ln/>
        </p:spPr>
        <p:txBody>
          <a:bodyPr wrap="square" lIns="0" tIns="0" rIns="0" bIns="0" rtlCol="0" anchor="t"/>
          <a:lstStyle/>
          <a:p>
            <a:pPr marL="0" indent="0" algn="l">
              <a:buNone/>
            </a:pPr>
            <a:r>
              <a:rPr lang="en-US" sz="1200" dirty="0">
                <a:solidFill>
                  <a:srgbClr val="1B1B2A"/>
                </a:solidFill>
                <a:latin typeface="Calibri" pitchFamily="34" charset="0"/>
                <a:ea typeface="Calibri" pitchFamily="34" charset="-122"/>
                <a:cs typeface="Calibri" pitchFamily="34" charset="-120"/>
              </a:rPr>
              <a:t>Huawei</a:t>
            </a:r>
            <a:endParaRPr lang="en-US" sz="1200" dirty="0"/>
          </a:p>
        </p:txBody>
      </p:sp>
      <p:sp>
        <p:nvSpPr>
          <p:cNvPr id="13" name="Text 10"/>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1 - USER OVERVIEW</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Top 5 Handsets per Top-3 Manufacturer</a:t>
            </a:r>
            <a:endParaRPr lang="en-US" sz="3000" dirty="0"/>
          </a:p>
        </p:txBody>
      </p:sp>
      <p:pic>
        <p:nvPicPr>
          <p:cNvPr id="4" name="Image 0" descr="/sessions/bold-loving-darwin/mnt/outputs/tellco-analysis/figures/top5_handsets_per_manufacturer.png"/>
          <p:cNvPicPr>
            <a:picLocks noChangeAspect="1"/>
          </p:cNvPicPr>
          <p:nvPr/>
        </p:nvPicPr>
        <p:blipFill>
          <a:blip r:embed="rId3"/>
          <a:stretch>
            <a:fillRect/>
          </a:stretch>
        </p:blipFill>
        <p:spPr>
          <a:xfrm>
            <a:off x="548640" y="1700213"/>
            <a:ext cx="11064240" cy="3457575"/>
          </a:xfrm>
          <a:prstGeom prst="rect">
            <a:avLst/>
          </a:prstGeom>
        </p:spPr>
      </p:pic>
      <p:sp>
        <p:nvSpPr>
          <p:cNvPr id="5" name="Text 2"/>
          <p:cNvSpPr/>
          <p:nvPr/>
        </p:nvSpPr>
        <p:spPr>
          <a:xfrm>
            <a:off x="548640" y="5577840"/>
            <a:ext cx="11064240" cy="822960"/>
          </a:xfrm>
          <a:prstGeom prst="rect">
            <a:avLst/>
          </a:prstGeom>
          <a:noFill/>
          <a:ln/>
        </p:spPr>
        <p:txBody>
          <a:bodyPr wrap="square" lIns="0" tIns="0" rIns="0" bIns="0" rtlCol="0" anchor="ctr"/>
          <a:lstStyle/>
          <a:p>
            <a:pPr marL="0" indent="0">
              <a:buNone/>
            </a:pPr>
            <a:r>
              <a:rPr lang="en-US" sz="1500" i="1" dirty="0">
                <a:solidFill>
                  <a:srgbClr val="1B1B2A"/>
                </a:solidFill>
                <a:latin typeface="Calibri" pitchFamily="34" charset="0"/>
                <a:ea typeface="Calibri" pitchFamily="34" charset="-122"/>
                <a:cs typeface="Calibri" pitchFamily="34" charset="-120"/>
              </a:rPr>
              <a:t>The Huawei B528S-23A -- a fixed-wireless/home-broadband router, not a phone -- is TellCo's single most common device, pointing to a meaningful home-broadband customer segment alongside mobile handsets.</a:t>
            </a:r>
            <a:endParaRPr lang="en-US" sz="1500" dirty="0"/>
          </a:p>
        </p:txBody>
      </p:sp>
      <p:sp>
        <p:nvSpPr>
          <p:cNvPr id="6" name="Text 3"/>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1 - USER OVERVIEW</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Application Usage: Correlation &amp; PCA</a:t>
            </a:r>
            <a:endParaRPr lang="en-US" sz="3000" dirty="0"/>
          </a:p>
        </p:txBody>
      </p:sp>
      <p:pic>
        <p:nvPicPr>
          <p:cNvPr id="4" name="Image 0" descr="/sessions/bold-loving-darwin/mnt/outputs/tellco-analysis/figures/correlation_heatmap.png"/>
          <p:cNvPicPr>
            <a:picLocks noChangeAspect="1"/>
          </p:cNvPicPr>
          <p:nvPr/>
        </p:nvPicPr>
        <p:blipFill>
          <a:blip r:embed="rId3"/>
          <a:stretch>
            <a:fillRect/>
          </a:stretch>
        </p:blipFill>
        <p:spPr>
          <a:xfrm>
            <a:off x="548640" y="1885461"/>
            <a:ext cx="5212080" cy="3910038"/>
          </a:xfrm>
          <a:prstGeom prst="rect">
            <a:avLst/>
          </a:prstGeom>
        </p:spPr>
      </p:pic>
      <p:pic>
        <p:nvPicPr>
          <p:cNvPr id="5" name="Image 1" descr="/sessions/bold-loving-darwin/mnt/outputs/tellco-analysis/figures/pca_scree.png"/>
          <p:cNvPicPr>
            <a:picLocks noChangeAspect="1"/>
          </p:cNvPicPr>
          <p:nvPr/>
        </p:nvPicPr>
        <p:blipFill>
          <a:blip r:embed="rId4"/>
          <a:stretch>
            <a:fillRect/>
          </a:stretch>
        </p:blipFill>
        <p:spPr>
          <a:xfrm>
            <a:off x="6035040" y="1495697"/>
            <a:ext cx="5029200" cy="3592286"/>
          </a:xfrm>
          <a:prstGeom prst="rect">
            <a:avLst/>
          </a:prstGeom>
        </p:spPr>
      </p:pic>
      <p:sp>
        <p:nvSpPr>
          <p:cNvPr id="6" name="Text 2"/>
          <p:cNvSpPr/>
          <p:nvPr/>
        </p:nvSpPr>
        <p:spPr>
          <a:xfrm>
            <a:off x="6035040" y="5166360"/>
            <a:ext cx="5394960" cy="1463040"/>
          </a:xfrm>
          <a:prstGeom prst="rect">
            <a:avLst/>
          </a:prstGeom>
          <a:noFill/>
          <a:ln/>
        </p:spPr>
        <p:txBody>
          <a:bodyPr wrap="square" lIns="0" tIns="0" rIns="0" bIns="0" rtlCol="0" anchor="t"/>
          <a:lstStyle/>
          <a:p>
            <a:pPr marL="228600" indent="-228600">
              <a:spcAft>
                <a:spcPts val="1000"/>
              </a:spcAft>
              <a:buSzPct val="100000"/>
              <a:buChar char="●"/>
            </a:pPr>
            <a:r>
              <a:rPr lang="en-US" sz="1300" dirty="0">
                <a:solidFill>
                  <a:srgbClr val="1B1B2A"/>
                </a:solidFill>
                <a:latin typeface="Calibri" pitchFamily="34" charset="0"/>
                <a:ea typeface="Calibri" pitchFamily="34" charset="-122"/>
                <a:cs typeface="Calibri" pitchFamily="34" charset="-120"/>
              </a:rPr>
              <a:t>Application categories are essentially uncorrelated -- usage of one app tells you little about another</a:t>
            </a:r>
            <a:endParaRPr lang="en-US" sz="1300" dirty="0"/>
          </a:p>
          <a:p>
            <a:pPr marL="228600" indent="-228600">
              <a:spcAft>
                <a:spcPts val="1000"/>
              </a:spcAft>
              <a:buSzPct val="100000"/>
              <a:buChar char="●"/>
            </a:pPr>
            <a:r>
              <a:rPr lang="en-US" sz="1300" dirty="0">
                <a:solidFill>
                  <a:srgbClr val="1B1B2A"/>
                </a:solidFill>
                <a:latin typeface="Calibri" pitchFamily="34" charset="0"/>
                <a:ea typeface="Calibri" pitchFamily="34" charset="-122"/>
                <a:cs typeface="Calibri" pitchFamily="34" charset="-120"/>
              </a:rPr>
              <a:t>PCA variance is spread evenly (~14% per component) -- no single 'heavy user' axis</a:t>
            </a:r>
            <a:endParaRPr lang="en-US" sz="1300" dirty="0"/>
          </a:p>
          <a:p>
            <a:pPr marL="228600" indent="-228600">
              <a:spcAft>
                <a:spcPts val="1000"/>
              </a:spcAft>
              <a:buSzPct val="100000"/>
              <a:buChar char="●"/>
            </a:pPr>
            <a:r>
              <a:rPr lang="en-US" sz="1300" dirty="0">
                <a:solidFill>
                  <a:srgbClr val="1B1B2A"/>
                </a:solidFill>
                <a:latin typeface="Calibri" pitchFamily="34" charset="0"/>
                <a:ea typeface="Calibri" pitchFamily="34" charset="-122"/>
                <a:cs typeface="Calibri" pitchFamily="34" charset="-120"/>
              </a:rPr>
              <a:t>Total data volume is driven almost entirely by Gaming (r=0.998)</a:t>
            </a:r>
            <a:endParaRPr lang="en-US" sz="1300" dirty="0"/>
          </a:p>
        </p:txBody>
      </p:sp>
      <p:sp>
        <p:nvSpPr>
          <p:cNvPr id="7" name="Text 3"/>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1 - USER OVERVIEW</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Data Volume by Session-Duration Decile</a:t>
            </a:r>
            <a:endParaRPr lang="en-US" sz="3000" dirty="0"/>
          </a:p>
        </p:txBody>
      </p:sp>
      <p:pic>
        <p:nvPicPr>
          <p:cNvPr id="4" name="Image 0" descr="/sessions/bold-loving-darwin/mnt/outputs/tellco-analysis/figures/decile_segmentation.png"/>
          <p:cNvPicPr>
            <a:picLocks noChangeAspect="1"/>
          </p:cNvPicPr>
          <p:nvPr/>
        </p:nvPicPr>
        <p:blipFill>
          <a:blip r:embed="rId3"/>
          <a:stretch>
            <a:fillRect/>
          </a:stretch>
        </p:blipFill>
        <p:spPr>
          <a:xfrm>
            <a:off x="548640" y="1986280"/>
            <a:ext cx="6675120" cy="3708400"/>
          </a:xfrm>
          <a:prstGeom prst="rect">
            <a:avLst/>
          </a:prstGeom>
        </p:spPr>
      </p:pic>
      <p:sp>
        <p:nvSpPr>
          <p:cNvPr id="5" name="Shape 2"/>
          <p:cNvSpPr/>
          <p:nvPr/>
        </p:nvSpPr>
        <p:spPr>
          <a:xfrm>
            <a:off x="7406640" y="1463040"/>
            <a:ext cx="4251960" cy="4754880"/>
          </a:xfrm>
          <a:prstGeom prst="roundRect">
            <a:avLst>
              <a:gd name="adj" fmla="val 1720"/>
            </a:avLst>
          </a:prstGeom>
          <a:solidFill>
            <a:srgbClr val="CADCFC"/>
          </a:solidFill>
          <a:ln/>
        </p:spPr>
      </p:sp>
      <p:sp>
        <p:nvSpPr>
          <p:cNvPr id="6" name="Text 3"/>
          <p:cNvSpPr/>
          <p:nvPr/>
        </p:nvSpPr>
        <p:spPr>
          <a:xfrm>
            <a:off x="7680960" y="1828800"/>
            <a:ext cx="3657600" cy="365760"/>
          </a:xfrm>
          <a:prstGeom prst="rect">
            <a:avLst/>
          </a:prstGeom>
          <a:noFill/>
          <a:ln/>
        </p:spPr>
        <p:txBody>
          <a:bodyPr wrap="square" lIns="0" tIns="0" rIns="0" bIns="0" rtlCol="0" anchor="ctr"/>
          <a:lstStyle/>
          <a:p>
            <a:pPr marL="0" indent="0">
              <a:buNone/>
            </a:pPr>
            <a:r>
              <a:rPr lang="en-US" sz="1400" dirty="0">
                <a:solidFill>
                  <a:srgbClr val="1B1B2A"/>
                </a:solidFill>
                <a:latin typeface="Calibri" pitchFamily="34" charset="0"/>
                <a:ea typeface="Calibri" pitchFamily="34" charset="-122"/>
                <a:cs typeface="Calibri" pitchFamily="34" charset="-120"/>
              </a:rPr>
              <a:t>Top decile alone accounts for</a:t>
            </a:r>
            <a:endParaRPr lang="en-US" sz="1400" dirty="0"/>
          </a:p>
        </p:txBody>
      </p:sp>
      <p:sp>
        <p:nvSpPr>
          <p:cNvPr id="7" name="Text 4"/>
          <p:cNvSpPr/>
          <p:nvPr/>
        </p:nvSpPr>
        <p:spPr>
          <a:xfrm>
            <a:off x="7680960" y="2148840"/>
            <a:ext cx="3657600" cy="850392"/>
          </a:xfrm>
          <a:prstGeom prst="rect">
            <a:avLst/>
          </a:prstGeom>
          <a:noFill/>
          <a:ln/>
        </p:spPr>
        <p:txBody>
          <a:bodyPr wrap="square" lIns="0" tIns="0" rIns="0" bIns="0" rtlCol="0" anchor="b"/>
          <a:lstStyle/>
          <a:p>
            <a:pPr marL="0" indent="0" algn="l">
              <a:buNone/>
            </a:pPr>
            <a:r>
              <a:rPr lang="en-US" sz="3600" b="1" dirty="0">
                <a:solidFill>
                  <a:srgbClr val="1E2761"/>
                </a:solidFill>
                <a:latin typeface="Cambria" pitchFamily="34" charset="0"/>
                <a:ea typeface="Cambria" pitchFamily="34" charset="-122"/>
                <a:cs typeface="Cambria" pitchFamily="34" charset="-120"/>
              </a:rPr>
              <a:t>14.0 TB</a:t>
            </a:r>
            <a:endParaRPr lang="en-US" sz="3600" dirty="0"/>
          </a:p>
        </p:txBody>
      </p:sp>
      <p:sp>
        <p:nvSpPr>
          <p:cNvPr id="8" name="Text 5"/>
          <p:cNvSpPr/>
          <p:nvPr/>
        </p:nvSpPr>
        <p:spPr>
          <a:xfrm>
            <a:off x="7680960" y="2999232"/>
            <a:ext cx="3657600" cy="521208"/>
          </a:xfrm>
          <a:prstGeom prst="rect">
            <a:avLst/>
          </a:prstGeom>
          <a:noFill/>
          <a:ln/>
        </p:spPr>
        <p:txBody>
          <a:bodyPr wrap="square" lIns="0" tIns="0" rIns="0" bIns="0" rtlCol="0" anchor="t"/>
          <a:lstStyle/>
          <a:p>
            <a:pPr marL="0" indent="0" algn="l">
              <a:buNone/>
            </a:pPr>
            <a:r>
              <a:rPr lang="en-US" sz="1200" dirty="0">
                <a:solidFill>
                  <a:srgbClr val="1B1B2A"/>
                </a:solidFill>
                <a:latin typeface="Calibri" pitchFamily="34" charset="0"/>
                <a:ea typeface="Calibri" pitchFamily="34" charset="-122"/>
                <a:cs typeface="Calibri" pitchFamily="34" charset="-120"/>
              </a:rPr>
              <a:t>of total network data volume</a:t>
            </a:r>
            <a:endParaRPr lang="en-US" sz="1200" dirty="0"/>
          </a:p>
        </p:txBody>
      </p:sp>
      <p:sp>
        <p:nvSpPr>
          <p:cNvPr id="9" name="Text 6"/>
          <p:cNvSpPr/>
          <p:nvPr/>
        </p:nvSpPr>
        <p:spPr>
          <a:xfrm>
            <a:off x="7680960" y="3749040"/>
            <a:ext cx="3657600" cy="228600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Long-session users are disproportionately valuable data consumers -- more than double the 6th decile's volume. These subscribers are prime candidates for premium/unlimited plan upsell.</a:t>
            </a:r>
            <a:endParaRPr lang="en-US" sz="1300" dirty="0"/>
          </a:p>
        </p:txBody>
      </p:sp>
      <p:sp>
        <p:nvSpPr>
          <p:cNvPr id="10" name="Text 7"/>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2 - USER ENGAGEMENT</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Engagement Metrics &amp; Top Customers</a:t>
            </a:r>
            <a:endParaRPr lang="en-US" sz="3000" dirty="0"/>
          </a:p>
        </p:txBody>
      </p:sp>
      <p:sp>
        <p:nvSpPr>
          <p:cNvPr id="4" name="Text 2"/>
          <p:cNvSpPr/>
          <p:nvPr/>
        </p:nvSpPr>
        <p:spPr>
          <a:xfrm>
            <a:off x="548640" y="1417320"/>
            <a:ext cx="10881360" cy="640080"/>
          </a:xfrm>
          <a:prstGeom prst="rect">
            <a:avLst/>
          </a:prstGeom>
          <a:noFill/>
          <a:ln/>
        </p:spPr>
        <p:txBody>
          <a:bodyPr wrap="square" lIns="0" tIns="0" rIns="0" bIns="0" rtlCol="0" anchor="ctr"/>
          <a:lstStyle/>
          <a:p>
            <a:pPr marL="0" indent="0">
              <a:buNone/>
            </a:pPr>
            <a:r>
              <a:rPr lang="en-US" sz="1500" dirty="0">
                <a:solidFill>
                  <a:srgbClr val="1B1B2A"/>
                </a:solidFill>
                <a:latin typeface="Calibri" pitchFamily="34" charset="0"/>
                <a:ea typeface="Calibri" pitchFamily="34" charset="-122"/>
                <a:cs typeface="Calibri" pitchFamily="34" charset="-120"/>
              </a:rPr>
              <a:t>Engagement was measured per subscriber via three metrics: session frequency, total session duration, and total session traffic (DL+UL bytes).</a:t>
            </a:r>
            <a:endParaRPr lang="en-US" sz="1500" dirty="0"/>
          </a:p>
        </p:txBody>
      </p:sp>
      <p:pic>
        <p:nvPicPr>
          <p:cNvPr id="5" name="Image 0" descr="/sessions/bold-loving-darwin/mnt/outputs/tellco-analysis/figures/engagement_cluster_averages.png"/>
          <p:cNvPicPr>
            <a:picLocks noChangeAspect="1"/>
          </p:cNvPicPr>
          <p:nvPr/>
        </p:nvPicPr>
        <p:blipFill>
          <a:blip r:embed="rId3"/>
          <a:stretch>
            <a:fillRect/>
          </a:stretch>
        </p:blipFill>
        <p:spPr>
          <a:xfrm>
            <a:off x="548640" y="2971800"/>
            <a:ext cx="5212080" cy="1737360"/>
          </a:xfrm>
          <a:prstGeom prst="rect">
            <a:avLst/>
          </a:prstGeom>
        </p:spPr>
      </p:pic>
      <p:sp>
        <p:nvSpPr>
          <p:cNvPr id="6" name="Text 3"/>
          <p:cNvSpPr/>
          <p:nvPr/>
        </p:nvSpPr>
        <p:spPr>
          <a:xfrm>
            <a:off x="548640" y="5212080"/>
            <a:ext cx="5212080" cy="914400"/>
          </a:xfrm>
          <a:prstGeom prst="rect">
            <a:avLst/>
          </a:prstGeom>
          <a:noFill/>
          <a:ln/>
        </p:spPr>
        <p:txBody>
          <a:bodyPr wrap="square" lIns="0" tIns="0" rIns="0" bIns="0" rtlCol="0" anchor="t"/>
          <a:lstStyle/>
          <a:p>
            <a:pPr marL="0" indent="0">
              <a:buNone/>
            </a:pPr>
            <a:r>
              <a:rPr lang="en-US" sz="1300" i="1" dirty="0">
                <a:solidFill>
                  <a:srgbClr val="5A6B8C"/>
                </a:solidFill>
                <a:latin typeface="Calibri" pitchFamily="34" charset="0"/>
                <a:ea typeface="Calibri" pitchFamily="34" charset="-122"/>
                <a:cs typeface="Calibri" pitchFamily="34" charset="-120"/>
              </a:rPr>
              <a:t>Cluster 2 (the single outlier) dwarfs the scale of clusters 0-1, visually flattening them -- see Slide 10 for the full 3-cluster breakdown.</a:t>
            </a:r>
            <a:endParaRPr lang="en-US" sz="1300" dirty="0"/>
          </a:p>
        </p:txBody>
      </p:sp>
      <p:sp>
        <p:nvSpPr>
          <p:cNvPr id="7" name="Shape 4"/>
          <p:cNvSpPr/>
          <p:nvPr/>
        </p:nvSpPr>
        <p:spPr>
          <a:xfrm>
            <a:off x="6035040" y="2286000"/>
            <a:ext cx="5394960" cy="3931920"/>
          </a:xfrm>
          <a:prstGeom prst="roundRect">
            <a:avLst>
              <a:gd name="adj" fmla="val 1860"/>
            </a:avLst>
          </a:prstGeom>
          <a:solidFill>
            <a:srgbClr val="CADCFC"/>
          </a:solidFill>
          <a:ln/>
        </p:spPr>
      </p:sp>
      <p:sp>
        <p:nvSpPr>
          <p:cNvPr id="8" name="Text 5"/>
          <p:cNvSpPr/>
          <p:nvPr/>
        </p:nvSpPr>
        <p:spPr>
          <a:xfrm>
            <a:off x="6309360" y="2514600"/>
            <a:ext cx="484632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What drives engagement</a:t>
            </a:r>
            <a:endParaRPr lang="en-US" sz="1600" dirty="0"/>
          </a:p>
        </p:txBody>
      </p:sp>
      <p:sp>
        <p:nvSpPr>
          <p:cNvPr id="9" name="Text 6"/>
          <p:cNvSpPr/>
          <p:nvPr/>
        </p:nvSpPr>
        <p:spPr>
          <a:xfrm>
            <a:off x="6309360" y="2971800"/>
            <a:ext cx="4846320" cy="310896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1B1B2A"/>
                </a:solidFill>
                <a:latin typeface="Calibri" pitchFamily="34" charset="0"/>
                <a:ea typeface="Calibri" pitchFamily="34" charset="-122"/>
                <a:cs typeface="Calibri" pitchFamily="34" charset="-120"/>
              </a:rPr>
              <a:t>One subscriber logged 1,066 sessions in the month vs. a median of ~1 -- an extreme statistical outlier (likely M2M/aggregator line)</a:t>
            </a:r>
            <a:endParaRPr lang="en-US" sz="1400" dirty="0"/>
          </a:p>
          <a:p>
            <a:pPr marL="228600" indent="-228600">
              <a:spcAft>
                <a:spcPts val="1000"/>
              </a:spcAft>
              <a:buSzPct val="100000"/>
              <a:buChar char="●"/>
            </a:pPr>
            <a:r>
              <a:rPr lang="en-US" sz="1400" dirty="0">
                <a:solidFill>
                  <a:srgbClr val="1B1B2A"/>
                </a:solidFill>
                <a:latin typeface="Calibri" pitchFamily="34" charset="0"/>
                <a:ea typeface="Calibri" pitchFamily="34" charset="-122"/>
                <a:cs typeface="Calibri" pitchFamily="34" charset="-120"/>
              </a:rPr>
              <a:t>Excluding that outlier, the next-heaviest users show 12-18 sessions -- a natural 'power user' tier</a:t>
            </a:r>
            <a:endParaRPr lang="en-US" sz="1400" dirty="0"/>
          </a:p>
          <a:p>
            <a:pPr marL="228600" indent="-228600">
              <a:spcAft>
                <a:spcPts val="1000"/>
              </a:spcAft>
              <a:buSzPct val="100000"/>
              <a:buChar char="●"/>
            </a:pPr>
            <a:r>
              <a:rPr lang="en-US" sz="1400" dirty="0">
                <a:solidFill>
                  <a:srgbClr val="1B1B2A"/>
                </a:solidFill>
                <a:latin typeface="Calibri" pitchFamily="34" charset="0"/>
                <a:ea typeface="Calibri" pitchFamily="34" charset="-122"/>
                <a:cs typeface="Calibri" pitchFamily="34" charset="-120"/>
              </a:rPr>
              <a:t>Gaming and unclassified 'Other' traffic dominate total bytes network-wide</a:t>
            </a:r>
            <a:endParaRPr lang="en-US" sz="1400" dirty="0"/>
          </a:p>
        </p:txBody>
      </p:sp>
      <p:sp>
        <p:nvSpPr>
          <p:cNvPr id="10" name="Text 7"/>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2 - USER ENGAGEMENT</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Engagement Segmentation (K-Means, k=3)</a:t>
            </a:r>
            <a:endParaRPr lang="en-US" sz="3000" dirty="0"/>
          </a:p>
        </p:txBody>
      </p:sp>
      <p:pic>
        <p:nvPicPr>
          <p:cNvPr id="4" name="Image 0" descr="/sessions/bold-loving-darwin/mnt/outputs/tellco-analysis/figures/engagement_elbow.png"/>
          <p:cNvPicPr>
            <a:picLocks noChangeAspect="1"/>
          </p:cNvPicPr>
          <p:nvPr/>
        </p:nvPicPr>
        <p:blipFill>
          <a:blip r:embed="rId3"/>
          <a:stretch>
            <a:fillRect/>
          </a:stretch>
        </p:blipFill>
        <p:spPr>
          <a:xfrm>
            <a:off x="548640" y="1704703"/>
            <a:ext cx="5212080" cy="3722914"/>
          </a:xfrm>
          <a:prstGeom prst="rect">
            <a:avLst/>
          </a:prstGeom>
        </p:spPr>
      </p:pic>
      <p:pic>
        <p:nvPicPr>
          <p:cNvPr id="5" name="Image 1" descr="/sessions/bold-loving-darwin/mnt/outputs/tellco-analysis/figures/engagement_clusters_scatter.png"/>
          <p:cNvPicPr>
            <a:picLocks noChangeAspect="1"/>
          </p:cNvPicPr>
          <p:nvPr/>
        </p:nvPicPr>
        <p:blipFill>
          <a:blip r:embed="rId4"/>
          <a:stretch>
            <a:fillRect/>
          </a:stretch>
        </p:blipFill>
        <p:spPr>
          <a:xfrm>
            <a:off x="6035040" y="1542544"/>
            <a:ext cx="5394960" cy="4047232"/>
          </a:xfrm>
          <a:prstGeom prst="rect">
            <a:avLst/>
          </a:prstGeom>
        </p:spPr>
      </p:pic>
      <p:sp>
        <p:nvSpPr>
          <p:cNvPr id="6" name="Text 2"/>
          <p:cNvSpPr/>
          <p:nvPr/>
        </p:nvSpPr>
        <p:spPr>
          <a:xfrm>
            <a:off x="548640" y="5760720"/>
            <a:ext cx="10881360" cy="731520"/>
          </a:xfrm>
          <a:prstGeom prst="rect">
            <a:avLst/>
          </a:prstGeom>
          <a:noFill/>
          <a:ln/>
        </p:spPr>
        <p:txBody>
          <a:bodyPr wrap="square" lIns="0" tIns="0" rIns="0" bIns="0" rtlCol="0" anchor="ctr"/>
          <a:lstStyle/>
          <a:p>
            <a:pPr marL="0" indent="0">
              <a:buNone/>
            </a:pPr>
            <a:r>
              <a:rPr lang="en-US" sz="1400" i="1" dirty="0">
                <a:solidFill>
                  <a:srgbClr val="1B1B2A"/>
                </a:solidFill>
                <a:latin typeface="Calibri" pitchFamily="34" charset="0"/>
                <a:ea typeface="Calibri" pitchFamily="34" charset="-122"/>
                <a:cs typeface="Calibri" pitchFamily="34" charset="-120"/>
              </a:rPr>
              <a:t>The elbow method supports k=3: additional clusters yield diminishing returns. One cluster is a single extreme outlier that heavily skews centroid placement -- flagged as a data-quality limitation.</a:t>
            </a:r>
            <a:endParaRPr lang="en-US" sz="1400" dirty="0"/>
          </a:p>
        </p:txBody>
      </p:sp>
      <p:sp>
        <p:nvSpPr>
          <p:cNvPr id="7" name="Text 3"/>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2 - USER ENGAGEMENT</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Most-Used Applications, Network-Wide</a:t>
            </a:r>
            <a:endParaRPr lang="en-US" sz="3000" dirty="0"/>
          </a:p>
        </p:txBody>
      </p:sp>
      <p:pic>
        <p:nvPicPr>
          <p:cNvPr id="4" name="Image 0" descr="/sessions/bold-loving-darwin/mnt/outputs/tellco-analysis/figures/top3_applications.png"/>
          <p:cNvPicPr>
            <a:picLocks noChangeAspect="1"/>
          </p:cNvPicPr>
          <p:nvPr/>
        </p:nvPicPr>
        <p:blipFill>
          <a:blip r:embed="rId3"/>
          <a:stretch>
            <a:fillRect/>
          </a:stretch>
        </p:blipFill>
        <p:spPr>
          <a:xfrm>
            <a:off x="548640" y="1717766"/>
            <a:ext cx="5943600" cy="4245429"/>
          </a:xfrm>
          <a:prstGeom prst="rect">
            <a:avLst/>
          </a:prstGeom>
        </p:spPr>
      </p:pic>
      <p:sp>
        <p:nvSpPr>
          <p:cNvPr id="5" name="Shape 2"/>
          <p:cNvSpPr/>
          <p:nvPr/>
        </p:nvSpPr>
        <p:spPr>
          <a:xfrm>
            <a:off x="6858000" y="1463040"/>
            <a:ext cx="4800600" cy="4754880"/>
          </a:xfrm>
          <a:prstGeom prst="roundRect">
            <a:avLst>
              <a:gd name="adj" fmla="val 1538"/>
            </a:avLst>
          </a:prstGeom>
          <a:solidFill>
            <a:srgbClr val="CADCFC"/>
          </a:solidFill>
          <a:ln/>
        </p:spPr>
      </p:sp>
      <p:sp>
        <p:nvSpPr>
          <p:cNvPr id="6" name="Text 3"/>
          <p:cNvSpPr/>
          <p:nvPr/>
        </p:nvSpPr>
        <p:spPr>
          <a:xfrm>
            <a:off x="7132320" y="1737360"/>
            <a:ext cx="4297680" cy="793699"/>
          </a:xfrm>
          <a:prstGeom prst="rect">
            <a:avLst/>
          </a:prstGeom>
          <a:noFill/>
          <a:ln/>
        </p:spPr>
        <p:txBody>
          <a:bodyPr wrap="square" lIns="0" tIns="0" rIns="0" bIns="0" rtlCol="0" anchor="b"/>
          <a:lstStyle/>
          <a:p>
            <a:pPr marL="0" indent="0" algn="l">
              <a:buNone/>
            </a:pPr>
            <a:r>
              <a:rPr lang="en-US" sz="2800" b="1" dirty="0">
                <a:solidFill>
                  <a:srgbClr val="1E2761"/>
                </a:solidFill>
                <a:latin typeface="Cambria" pitchFamily="34" charset="0"/>
                <a:ea typeface="Cambria" pitchFamily="34" charset="-122"/>
                <a:cs typeface="Cambria" pitchFamily="34" charset="-120"/>
              </a:rPr>
              <a:t>58.7 TB</a:t>
            </a:r>
            <a:endParaRPr lang="en-US" sz="2800" dirty="0"/>
          </a:p>
        </p:txBody>
      </p:sp>
      <p:sp>
        <p:nvSpPr>
          <p:cNvPr id="7" name="Text 4"/>
          <p:cNvSpPr/>
          <p:nvPr/>
        </p:nvSpPr>
        <p:spPr>
          <a:xfrm>
            <a:off x="7132320" y="2531059"/>
            <a:ext cx="4297680" cy="486461"/>
          </a:xfrm>
          <a:prstGeom prst="rect">
            <a:avLst/>
          </a:prstGeom>
          <a:noFill/>
          <a:ln/>
        </p:spPr>
        <p:txBody>
          <a:bodyPr wrap="square" lIns="0" tIns="0" rIns="0" bIns="0" rtlCol="0" anchor="t"/>
          <a:lstStyle/>
          <a:p>
            <a:pPr marL="0" indent="0" algn="l">
              <a:buNone/>
            </a:pPr>
            <a:r>
              <a:rPr lang="en-US" sz="1200" dirty="0">
                <a:solidFill>
                  <a:srgbClr val="1B1B2A"/>
                </a:solidFill>
                <a:latin typeface="Calibri" pitchFamily="34" charset="0"/>
                <a:ea typeface="Calibri" pitchFamily="34" charset="-122"/>
                <a:cs typeface="Calibri" pitchFamily="34" charset="-120"/>
              </a:rPr>
              <a:t>Gaming total volume</a:t>
            </a:r>
            <a:endParaRPr lang="en-US" sz="1200" dirty="0"/>
          </a:p>
        </p:txBody>
      </p:sp>
      <p:sp>
        <p:nvSpPr>
          <p:cNvPr id="8" name="Text 5"/>
          <p:cNvSpPr/>
          <p:nvPr/>
        </p:nvSpPr>
        <p:spPr>
          <a:xfrm>
            <a:off x="7132320" y="3200400"/>
            <a:ext cx="4297680" cy="793699"/>
          </a:xfrm>
          <a:prstGeom prst="rect">
            <a:avLst/>
          </a:prstGeom>
          <a:noFill/>
          <a:ln/>
        </p:spPr>
        <p:txBody>
          <a:bodyPr wrap="square" lIns="0" tIns="0" rIns="0" bIns="0" rtlCol="0" anchor="b"/>
          <a:lstStyle/>
          <a:p>
            <a:pPr marL="0" indent="0" algn="l">
              <a:buNone/>
            </a:pPr>
            <a:r>
              <a:rPr lang="en-US" sz="2800" b="1" dirty="0">
                <a:solidFill>
                  <a:srgbClr val="1E2761"/>
                </a:solidFill>
                <a:latin typeface="Cambria" pitchFamily="34" charset="0"/>
                <a:ea typeface="Cambria" pitchFamily="34" charset="-122"/>
                <a:cs typeface="Cambria" pitchFamily="34" charset="-120"/>
              </a:rPr>
              <a:t>58.6 TB</a:t>
            </a:r>
            <a:endParaRPr lang="en-US" sz="2800" dirty="0"/>
          </a:p>
        </p:txBody>
      </p:sp>
      <p:sp>
        <p:nvSpPr>
          <p:cNvPr id="9" name="Text 6"/>
          <p:cNvSpPr/>
          <p:nvPr/>
        </p:nvSpPr>
        <p:spPr>
          <a:xfrm>
            <a:off x="7132320" y="3994099"/>
            <a:ext cx="4297680" cy="486461"/>
          </a:xfrm>
          <a:prstGeom prst="rect">
            <a:avLst/>
          </a:prstGeom>
          <a:noFill/>
          <a:ln/>
        </p:spPr>
        <p:txBody>
          <a:bodyPr wrap="square" lIns="0" tIns="0" rIns="0" bIns="0" rtlCol="0" anchor="t"/>
          <a:lstStyle/>
          <a:p>
            <a:pPr marL="0" indent="0" algn="l">
              <a:buNone/>
            </a:pPr>
            <a:r>
              <a:rPr lang="en-US" sz="1200" dirty="0">
                <a:solidFill>
                  <a:srgbClr val="1B1B2A"/>
                </a:solidFill>
                <a:latin typeface="Calibri" pitchFamily="34" charset="0"/>
                <a:ea typeface="Calibri" pitchFamily="34" charset="-122"/>
                <a:cs typeface="Calibri" pitchFamily="34" charset="-120"/>
              </a:rPr>
              <a:t>Other total volume</a:t>
            </a:r>
            <a:endParaRPr lang="en-US" sz="1200" dirty="0"/>
          </a:p>
        </p:txBody>
      </p:sp>
      <p:sp>
        <p:nvSpPr>
          <p:cNvPr id="10" name="Text 7"/>
          <p:cNvSpPr/>
          <p:nvPr/>
        </p:nvSpPr>
        <p:spPr>
          <a:xfrm>
            <a:off x="7132320" y="4663440"/>
            <a:ext cx="4297680" cy="793699"/>
          </a:xfrm>
          <a:prstGeom prst="rect">
            <a:avLst/>
          </a:prstGeom>
          <a:noFill/>
          <a:ln/>
        </p:spPr>
        <p:txBody>
          <a:bodyPr wrap="square" lIns="0" tIns="0" rIns="0" bIns="0" rtlCol="0" anchor="b"/>
          <a:lstStyle/>
          <a:p>
            <a:pPr marL="0" indent="0" algn="l">
              <a:buNone/>
            </a:pPr>
            <a:r>
              <a:rPr lang="en-US" sz="2800" b="1" dirty="0">
                <a:solidFill>
                  <a:srgbClr val="1E2761"/>
                </a:solidFill>
                <a:latin typeface="Cambria" pitchFamily="34" charset="0"/>
                <a:ea typeface="Cambria" pitchFamily="34" charset="-122"/>
                <a:cs typeface="Cambria" pitchFamily="34" charset="-120"/>
              </a:rPr>
              <a:t>3.1 TB</a:t>
            </a:r>
            <a:endParaRPr lang="en-US" sz="2800" dirty="0"/>
          </a:p>
        </p:txBody>
      </p:sp>
      <p:sp>
        <p:nvSpPr>
          <p:cNvPr id="11" name="Text 8"/>
          <p:cNvSpPr/>
          <p:nvPr/>
        </p:nvSpPr>
        <p:spPr>
          <a:xfrm>
            <a:off x="7132320" y="5457139"/>
            <a:ext cx="4297680" cy="486461"/>
          </a:xfrm>
          <a:prstGeom prst="rect">
            <a:avLst/>
          </a:prstGeom>
          <a:noFill/>
          <a:ln/>
        </p:spPr>
        <p:txBody>
          <a:bodyPr wrap="square" lIns="0" tIns="0" rIns="0" bIns="0" rtlCol="0" anchor="t"/>
          <a:lstStyle/>
          <a:p>
            <a:pPr marL="0" indent="0" algn="l">
              <a:buNone/>
            </a:pPr>
            <a:r>
              <a:rPr lang="en-US" sz="1200" dirty="0">
                <a:solidFill>
                  <a:srgbClr val="1B1B2A"/>
                </a:solidFill>
                <a:latin typeface="Calibri" pitchFamily="34" charset="0"/>
                <a:ea typeface="Calibri" pitchFamily="34" charset="-122"/>
                <a:cs typeface="Calibri" pitchFamily="34" charset="-120"/>
              </a:rPr>
              <a:t>YouTube total volume</a:t>
            </a:r>
            <a:endParaRPr lang="en-US" sz="1200" dirty="0"/>
          </a:p>
        </p:txBody>
      </p:sp>
      <p:sp>
        <p:nvSpPr>
          <p:cNvPr id="12" name="Text 9"/>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3 - USER EXPERIENCE</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Average Throughput by Handset Type</a:t>
            </a:r>
            <a:endParaRPr lang="en-US" sz="3000" dirty="0"/>
          </a:p>
        </p:txBody>
      </p:sp>
      <p:pic>
        <p:nvPicPr>
          <p:cNvPr id="4" name="Image 0" descr="/sessions/bold-loving-darwin/mnt/outputs/tellco-analysis/figures/throughput_by_handset.png"/>
          <p:cNvPicPr>
            <a:picLocks noChangeAspect="1"/>
          </p:cNvPicPr>
          <p:nvPr/>
        </p:nvPicPr>
        <p:blipFill>
          <a:blip r:embed="rId3"/>
          <a:stretch>
            <a:fillRect/>
          </a:stretch>
        </p:blipFill>
        <p:spPr>
          <a:xfrm>
            <a:off x="3051810" y="1417320"/>
            <a:ext cx="6057900" cy="4846320"/>
          </a:xfrm>
          <a:prstGeom prst="rect">
            <a:avLst/>
          </a:prstGeom>
        </p:spPr>
      </p:pic>
      <p:sp>
        <p:nvSpPr>
          <p:cNvPr id="5" name="Text 2"/>
          <p:cNvSpPr/>
          <p:nvPr/>
        </p:nvSpPr>
        <p:spPr>
          <a:xfrm>
            <a:off x="548640" y="6473952"/>
            <a:ext cx="9144000" cy="274320"/>
          </a:xfrm>
          <a:prstGeom prst="rect">
            <a:avLst/>
          </a:prstGeom>
          <a:noFill/>
          <a:ln/>
        </p:spPr>
        <p:txBody>
          <a:bodyPr wrap="square" lIns="0" tIns="0" rIns="0" bIns="0" rtlCol="0" anchor="ctr"/>
          <a:lstStyle/>
          <a:p>
            <a:pPr marL="0" indent="0">
              <a:buNone/>
            </a:pPr>
            <a:r>
              <a:rPr lang="en-US" sz="1000" i="1" dirty="0">
                <a:solidFill>
                  <a:srgbClr val="5A6B8C"/>
                </a:solidFill>
                <a:latin typeface="Calibri" pitchFamily="34" charset="0"/>
                <a:ea typeface="Calibri" pitchFamily="34" charset="-122"/>
                <a:cs typeface="Calibri" pitchFamily="34" charset="-120"/>
              </a:rPr>
              <a:t>Top 15 handsets by session volume. Spread within a single model suggests real network/coverage variance, not just device capability.</a:t>
            </a:r>
            <a:endParaRPr lang="en-US" sz="1000" dirty="0"/>
          </a:p>
        </p:txBody>
      </p:sp>
      <p:sp>
        <p:nvSpPr>
          <p:cNvPr id="6" name="Text 3"/>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3 - USER EXPERIENCE</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Network Quality: Retransmission &amp; Experience Clusters</a:t>
            </a:r>
            <a:endParaRPr lang="en-US" sz="3000" dirty="0"/>
          </a:p>
        </p:txBody>
      </p:sp>
      <p:pic>
        <p:nvPicPr>
          <p:cNvPr id="4" name="Image 0" descr="/sessions/bold-loving-darwin/mnt/outputs/tellco-analysis/figures/tcp_retrans_by_handset.png"/>
          <p:cNvPicPr>
            <a:picLocks noChangeAspect="1"/>
          </p:cNvPicPr>
          <p:nvPr/>
        </p:nvPicPr>
        <p:blipFill>
          <a:blip r:embed="rId3"/>
          <a:stretch>
            <a:fillRect/>
          </a:stretch>
        </p:blipFill>
        <p:spPr>
          <a:xfrm>
            <a:off x="548640" y="1536192"/>
            <a:ext cx="5760720" cy="4608576"/>
          </a:xfrm>
          <a:prstGeom prst="rect">
            <a:avLst/>
          </a:prstGeom>
        </p:spPr>
      </p:pic>
      <p:pic>
        <p:nvPicPr>
          <p:cNvPr id="5" name="Image 1" descr="/sessions/bold-loving-darwin/mnt/outputs/tellco-analysis/figures/experience_clusters_scatter.png"/>
          <p:cNvPicPr>
            <a:picLocks noChangeAspect="1"/>
          </p:cNvPicPr>
          <p:nvPr/>
        </p:nvPicPr>
        <p:blipFill>
          <a:blip r:embed="rId4"/>
          <a:stretch>
            <a:fillRect/>
          </a:stretch>
        </p:blipFill>
        <p:spPr>
          <a:xfrm>
            <a:off x="6492240" y="1554000"/>
            <a:ext cx="5120640" cy="3841440"/>
          </a:xfrm>
          <a:prstGeom prst="rect">
            <a:avLst/>
          </a:prstGeom>
        </p:spPr>
      </p:pic>
      <p:sp>
        <p:nvSpPr>
          <p:cNvPr id="6" name="Text 2"/>
          <p:cNvSpPr/>
          <p:nvPr/>
        </p:nvSpPr>
        <p:spPr>
          <a:xfrm>
            <a:off x="6492240" y="5577840"/>
            <a:ext cx="5120640" cy="1005840"/>
          </a:xfrm>
          <a:prstGeom prst="rect">
            <a:avLst/>
          </a:prstGeom>
          <a:noFill/>
          <a:ln/>
        </p:spPr>
        <p:txBody>
          <a:bodyPr wrap="square" lIns="0" tIns="0" rIns="0" bIns="0" rtlCol="0" anchor="ctr"/>
          <a:lstStyle/>
          <a:p>
            <a:pPr marL="0" indent="0">
              <a:buNone/>
            </a:pPr>
            <a:r>
              <a:rPr lang="en-US" sz="1300" i="1" dirty="0">
                <a:solidFill>
                  <a:srgbClr val="1B1B2A"/>
                </a:solidFill>
                <a:latin typeface="Calibri" pitchFamily="34" charset="0"/>
                <a:ea typeface="Calibri" pitchFamily="34" charset="-122"/>
                <a:cs typeface="Calibri" pitchFamily="34" charset="-120"/>
              </a:rPr>
              <a:t>Three clean experience clusters emerge: good (low RTT/retrans, high throughput), moderate, and poor. The poor-experience cluster anchors the Task 4 satisfaction scoring.</a:t>
            </a:r>
            <a:endParaRPr lang="en-US" sz="1300" dirty="0"/>
          </a:p>
        </p:txBody>
      </p:sp>
      <p:sp>
        <p:nvSpPr>
          <p:cNvPr id="7" name="Text 3"/>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4 - SATISFACTION</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Scoring Customer Satisfaction</a:t>
            </a:r>
            <a:endParaRPr lang="en-US" sz="3000" dirty="0"/>
          </a:p>
        </p:txBody>
      </p:sp>
      <p:sp>
        <p:nvSpPr>
          <p:cNvPr id="4" name="Shape 2"/>
          <p:cNvSpPr/>
          <p:nvPr/>
        </p:nvSpPr>
        <p:spPr>
          <a:xfrm>
            <a:off x="548640" y="1828800"/>
            <a:ext cx="3520440" cy="3291840"/>
          </a:xfrm>
          <a:prstGeom prst="roundRect">
            <a:avLst>
              <a:gd name="adj" fmla="val 2222"/>
            </a:avLst>
          </a:prstGeom>
          <a:solidFill>
            <a:srgbClr val="273580"/>
          </a:solidFill>
          <a:ln/>
        </p:spPr>
      </p:sp>
      <p:sp>
        <p:nvSpPr>
          <p:cNvPr id="5" name="Shape 3"/>
          <p:cNvSpPr/>
          <p:nvPr/>
        </p:nvSpPr>
        <p:spPr>
          <a:xfrm>
            <a:off x="822960" y="2103120"/>
            <a:ext cx="502920" cy="502920"/>
          </a:xfrm>
          <a:prstGeom prst="ellipse">
            <a:avLst/>
          </a:prstGeom>
          <a:solidFill>
            <a:srgbClr val="D9A441"/>
          </a:solidFill>
          <a:ln/>
        </p:spPr>
      </p:sp>
      <p:sp>
        <p:nvSpPr>
          <p:cNvPr id="6" name="Text 4"/>
          <p:cNvSpPr/>
          <p:nvPr/>
        </p:nvSpPr>
        <p:spPr>
          <a:xfrm>
            <a:off x="822960" y="21031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822960" y="2834640"/>
            <a:ext cx="297180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Engagement score</a:t>
            </a:r>
            <a:endParaRPr lang="en-US" sz="1800" dirty="0"/>
          </a:p>
        </p:txBody>
      </p:sp>
      <p:sp>
        <p:nvSpPr>
          <p:cNvPr id="8" name="Text 6"/>
          <p:cNvSpPr/>
          <p:nvPr/>
        </p:nvSpPr>
        <p:spPr>
          <a:xfrm>
            <a:off x="822960" y="3429000"/>
            <a:ext cx="2971800" cy="155448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Distance from each user to the LEAST-engaged cluster centroid</a:t>
            </a:r>
            <a:endParaRPr lang="en-US" sz="1400" dirty="0"/>
          </a:p>
        </p:txBody>
      </p:sp>
      <p:sp>
        <p:nvSpPr>
          <p:cNvPr id="9" name="Shape 7"/>
          <p:cNvSpPr/>
          <p:nvPr/>
        </p:nvSpPr>
        <p:spPr>
          <a:xfrm>
            <a:off x="4343400" y="1828800"/>
            <a:ext cx="3520440" cy="3291840"/>
          </a:xfrm>
          <a:prstGeom prst="roundRect">
            <a:avLst>
              <a:gd name="adj" fmla="val 2222"/>
            </a:avLst>
          </a:prstGeom>
          <a:solidFill>
            <a:srgbClr val="273580"/>
          </a:solidFill>
          <a:ln/>
        </p:spPr>
      </p:sp>
      <p:sp>
        <p:nvSpPr>
          <p:cNvPr id="10" name="Shape 8"/>
          <p:cNvSpPr/>
          <p:nvPr/>
        </p:nvSpPr>
        <p:spPr>
          <a:xfrm>
            <a:off x="4617720" y="2103120"/>
            <a:ext cx="502920" cy="502920"/>
          </a:xfrm>
          <a:prstGeom prst="ellipse">
            <a:avLst/>
          </a:prstGeom>
          <a:solidFill>
            <a:srgbClr val="D9A441"/>
          </a:solidFill>
          <a:ln/>
        </p:spPr>
      </p:sp>
      <p:sp>
        <p:nvSpPr>
          <p:cNvPr id="11" name="Text 9"/>
          <p:cNvSpPr/>
          <p:nvPr/>
        </p:nvSpPr>
        <p:spPr>
          <a:xfrm>
            <a:off x="4617720" y="21031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4617720" y="2834640"/>
            <a:ext cx="297180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Experience score</a:t>
            </a:r>
            <a:endParaRPr lang="en-US" sz="1800" dirty="0"/>
          </a:p>
        </p:txBody>
      </p:sp>
      <p:sp>
        <p:nvSpPr>
          <p:cNvPr id="13" name="Text 11"/>
          <p:cNvSpPr/>
          <p:nvPr/>
        </p:nvSpPr>
        <p:spPr>
          <a:xfrm>
            <a:off x="4617720" y="3429000"/>
            <a:ext cx="2971800" cy="155448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Distance from each user to the WORST-experience cluster centroid</a:t>
            </a:r>
            <a:endParaRPr lang="en-US" sz="1400" dirty="0"/>
          </a:p>
        </p:txBody>
      </p:sp>
      <p:sp>
        <p:nvSpPr>
          <p:cNvPr id="14" name="Shape 12"/>
          <p:cNvSpPr/>
          <p:nvPr/>
        </p:nvSpPr>
        <p:spPr>
          <a:xfrm>
            <a:off x="8138160" y="1828800"/>
            <a:ext cx="3520440" cy="3291840"/>
          </a:xfrm>
          <a:prstGeom prst="roundRect">
            <a:avLst>
              <a:gd name="adj" fmla="val 2222"/>
            </a:avLst>
          </a:prstGeom>
          <a:solidFill>
            <a:srgbClr val="273580"/>
          </a:solidFill>
          <a:ln/>
        </p:spPr>
      </p:sp>
      <p:sp>
        <p:nvSpPr>
          <p:cNvPr id="15" name="Shape 13"/>
          <p:cNvSpPr/>
          <p:nvPr/>
        </p:nvSpPr>
        <p:spPr>
          <a:xfrm>
            <a:off x="8412480" y="2103120"/>
            <a:ext cx="502920" cy="502920"/>
          </a:xfrm>
          <a:prstGeom prst="ellipse">
            <a:avLst/>
          </a:prstGeom>
          <a:solidFill>
            <a:srgbClr val="D9A441"/>
          </a:solidFill>
          <a:ln/>
        </p:spPr>
      </p:sp>
      <p:sp>
        <p:nvSpPr>
          <p:cNvPr id="16" name="Text 14"/>
          <p:cNvSpPr/>
          <p:nvPr/>
        </p:nvSpPr>
        <p:spPr>
          <a:xfrm>
            <a:off x="8412480" y="21031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8412480" y="2834640"/>
            <a:ext cx="297180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Satisfaction score</a:t>
            </a:r>
            <a:endParaRPr lang="en-US" sz="1800" dirty="0"/>
          </a:p>
        </p:txBody>
      </p:sp>
      <p:sp>
        <p:nvSpPr>
          <p:cNvPr id="18" name="Text 16"/>
          <p:cNvSpPr/>
          <p:nvPr/>
        </p:nvSpPr>
        <p:spPr>
          <a:xfrm>
            <a:off x="8412480" y="3429000"/>
            <a:ext cx="2971800" cy="155448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Average of engagement score and experience score</a:t>
            </a:r>
            <a:endParaRPr lang="en-US" sz="1400" dirty="0"/>
          </a:p>
        </p:txBody>
      </p:sp>
      <p:sp>
        <p:nvSpPr>
          <p:cNvPr id="19" name="Text 17"/>
          <p:cNvSpPr/>
          <p:nvPr/>
        </p:nvSpPr>
        <p:spPr>
          <a:xfrm>
            <a:off x="548640" y="6473952"/>
            <a:ext cx="9144000" cy="274320"/>
          </a:xfrm>
          <a:prstGeom prst="rect">
            <a:avLst/>
          </a:prstGeom>
          <a:noFill/>
          <a:ln/>
        </p:spPr>
        <p:txBody>
          <a:bodyPr wrap="square" lIns="0" tIns="0" rIns="0" bIns="0" rtlCol="0" anchor="ctr"/>
          <a:lstStyle/>
          <a:p>
            <a:pPr marL="0" indent="0">
              <a:buNone/>
            </a:pPr>
            <a:r>
              <a:rPr lang="en-US" sz="1000" i="1" dirty="0">
                <a:solidFill>
                  <a:srgbClr val="5A6B8C"/>
                </a:solidFill>
                <a:latin typeface="Calibri" pitchFamily="34" charset="0"/>
                <a:ea typeface="Calibri" pitchFamily="34" charset="-122"/>
                <a:cs typeface="Calibri" pitchFamily="34" charset="-120"/>
              </a:rPr>
              <a:t>Higher score = farther from the 'bad' reference cluster = more engaged / better experience / more satisfied.</a:t>
            </a:r>
            <a:endParaRPr lang="en-US" sz="1000" dirty="0"/>
          </a:p>
        </p:txBody>
      </p:sp>
      <p:sp>
        <p:nvSpPr>
          <p:cNvPr id="20" name="Text 18"/>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4 - SATISFACTION</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Top Satisfied Customers &amp; What Drives Satisfaction</a:t>
            </a:r>
            <a:endParaRPr lang="en-US" sz="3000" dirty="0"/>
          </a:p>
        </p:txBody>
      </p:sp>
      <p:pic>
        <p:nvPicPr>
          <p:cNvPr id="4" name="Image 0" descr="/sessions/bold-loving-darwin/mnt/outputs/tellco-analysis/figures/top10_satisfied.png"/>
          <p:cNvPicPr>
            <a:picLocks noChangeAspect="1"/>
          </p:cNvPicPr>
          <p:nvPr/>
        </p:nvPicPr>
        <p:blipFill>
          <a:blip r:embed="rId3"/>
          <a:stretch>
            <a:fillRect/>
          </a:stretch>
        </p:blipFill>
        <p:spPr>
          <a:xfrm>
            <a:off x="548640" y="2240280"/>
            <a:ext cx="5760720" cy="3200400"/>
          </a:xfrm>
          <a:prstGeom prst="rect">
            <a:avLst/>
          </a:prstGeom>
        </p:spPr>
      </p:pic>
      <p:sp>
        <p:nvSpPr>
          <p:cNvPr id="5" name="Shape 2"/>
          <p:cNvSpPr/>
          <p:nvPr/>
        </p:nvSpPr>
        <p:spPr>
          <a:xfrm>
            <a:off x="6492240" y="1463040"/>
            <a:ext cx="5120640" cy="4754880"/>
          </a:xfrm>
          <a:prstGeom prst="roundRect">
            <a:avLst>
              <a:gd name="adj" fmla="val 1538"/>
            </a:avLst>
          </a:prstGeom>
          <a:solidFill>
            <a:srgbClr val="CADCFC"/>
          </a:solidFill>
          <a:ln/>
        </p:spPr>
      </p:sp>
      <p:sp>
        <p:nvSpPr>
          <p:cNvPr id="6" name="Text 3"/>
          <p:cNvSpPr/>
          <p:nvPr/>
        </p:nvSpPr>
        <p:spPr>
          <a:xfrm>
            <a:off x="6766560" y="1691640"/>
            <a:ext cx="4572000"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Regression R² = 0.9509</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766560" y="2286000"/>
          <a:ext cx="457200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rPr>
                        <a:t>Feature</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Coefficient</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1B2A"/>
                          </a:solidFill>
                        </a:rPr>
                        <a:t>sessions_frequency</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buNone/>
                      </a:pPr>
                      <a:r>
                        <a:rPr lang="en-US" sz="1200" dirty="0">
                          <a:solidFill>
                            <a:srgbClr val="1B1B2A"/>
                          </a:solidFill>
                        </a:rPr>
                        <a:t>0.5424</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1B1B2A"/>
                          </a:solidFill>
                        </a:rPr>
                        <a:t>avg_rtt_ms</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buNone/>
                      </a:pPr>
                      <a:r>
                        <a:rPr lang="en-US" sz="1200" dirty="0">
                          <a:solidFill>
                            <a:srgbClr val="1B1B2A"/>
                          </a:solidFill>
                        </a:rPr>
                        <a:t>-0.3039</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dirty="0">
                          <a:solidFill>
                            <a:srgbClr val="1B1B2A"/>
                          </a:solidFill>
                        </a:rPr>
                        <a:t>total_duration_ms</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buNone/>
                      </a:pPr>
                      <a:r>
                        <a:rPr lang="en-US" sz="1200" dirty="0">
                          <a:solidFill>
                            <a:srgbClr val="1B1B2A"/>
                          </a:solidFill>
                        </a:rPr>
                        <a:t>0.246</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1B1B2A"/>
                          </a:solidFill>
                        </a:rPr>
                        <a:t>avg_throughput_kbps</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buNone/>
                      </a:pPr>
                      <a:r>
                        <a:rPr lang="en-US" sz="1200" dirty="0">
                          <a:solidFill>
                            <a:srgbClr val="1B1B2A"/>
                          </a:solidFill>
                        </a:rPr>
                        <a:t>0.1948</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dirty="0">
                          <a:solidFill>
                            <a:srgbClr val="1B1B2A"/>
                          </a:solidFill>
                        </a:rPr>
                        <a:t>avg_tcp_retrans_total_bytes</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buNone/>
                      </a:pPr>
                      <a:r>
                        <a:rPr lang="en-US" sz="1200" dirty="0">
                          <a:solidFill>
                            <a:srgbClr val="1B1B2A"/>
                          </a:solidFill>
                        </a:rPr>
                        <a:t>0.1901</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00" dirty="0">
                          <a:solidFill>
                            <a:srgbClr val="1B1B2A"/>
                          </a:solidFill>
                        </a:rPr>
                        <a:t>total_traffic_bytes</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buNone/>
                      </a:pPr>
                      <a:r>
                        <a:rPr lang="en-US" sz="1200" dirty="0">
                          <a:solidFill>
                            <a:srgbClr val="1B1B2A"/>
                          </a:solidFill>
                        </a:rPr>
                        <a:t>0.0544</a:t>
                      </a:r>
                      <a:endParaRPr lang="en-US" sz="12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4"/>
          <p:cNvSpPr/>
          <p:nvPr/>
        </p:nvSpPr>
        <p:spPr>
          <a:xfrm>
            <a:off x="6766560" y="5486400"/>
            <a:ext cx="4572000" cy="640080"/>
          </a:xfrm>
          <a:prstGeom prst="rect">
            <a:avLst/>
          </a:prstGeom>
          <a:noFill/>
          <a:ln/>
        </p:spPr>
        <p:txBody>
          <a:bodyPr wrap="square" lIns="0" tIns="0" rIns="0" bIns="0" rtlCol="0" anchor="ctr"/>
          <a:lstStyle/>
          <a:p>
            <a:pPr marL="0" indent="0">
              <a:buNone/>
            </a:pPr>
            <a:r>
              <a:rPr lang="en-US" sz="1200" i="1" dirty="0">
                <a:solidFill>
                  <a:srgbClr val="1B1B2A"/>
                </a:solidFill>
                <a:latin typeface="Calibri" pitchFamily="34" charset="0"/>
                <a:ea typeface="Calibri" pitchFamily="34" charset="-122"/>
                <a:cs typeface="Calibri" pitchFamily="34" charset="-120"/>
              </a:rPr>
              <a:t>Session frequency and duration are the strongest positive drivers of satisfaction.</a:t>
            </a:r>
            <a:endParaRPr lang="en-US" sz="1200" dirty="0"/>
          </a:p>
        </p:txBody>
      </p:sp>
      <p:sp>
        <p:nvSpPr>
          <p:cNvPr id="9" name="Text 5"/>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TASK 4 - SATISFACTION</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Satisfaction Clusters (k=2)</a:t>
            </a:r>
            <a:endParaRPr lang="en-US" sz="3000" dirty="0"/>
          </a:p>
        </p:txBody>
      </p:sp>
      <p:pic>
        <p:nvPicPr>
          <p:cNvPr id="4" name="Image 0" descr="/sessions/bold-loving-darwin/mnt/outputs/tellco-analysis/figures/satisfaction_clusters.png"/>
          <p:cNvPicPr>
            <a:picLocks noChangeAspect="1"/>
          </p:cNvPicPr>
          <p:nvPr/>
        </p:nvPicPr>
        <p:blipFill>
          <a:blip r:embed="rId3"/>
          <a:stretch>
            <a:fillRect/>
          </a:stretch>
        </p:blipFill>
        <p:spPr>
          <a:xfrm>
            <a:off x="717072" y="1463040"/>
            <a:ext cx="6338255" cy="4754880"/>
          </a:xfrm>
          <a:prstGeom prst="rect">
            <a:avLst/>
          </a:prstGeom>
        </p:spPr>
      </p:pic>
      <p:sp>
        <p:nvSpPr>
          <p:cNvPr id="5" name="Shape 2"/>
          <p:cNvSpPr/>
          <p:nvPr/>
        </p:nvSpPr>
        <p:spPr>
          <a:xfrm>
            <a:off x="7406640" y="1463040"/>
            <a:ext cx="4251960" cy="4754880"/>
          </a:xfrm>
          <a:prstGeom prst="roundRect">
            <a:avLst>
              <a:gd name="adj" fmla="val 1720"/>
            </a:avLst>
          </a:prstGeom>
          <a:solidFill>
            <a:srgbClr val="CADCFC"/>
          </a:solidFill>
          <a:ln/>
        </p:spPr>
      </p:sp>
      <p:sp>
        <p:nvSpPr>
          <p:cNvPr id="6" name="Text 3"/>
          <p:cNvSpPr/>
          <p:nvPr/>
        </p:nvSpPr>
        <p:spPr>
          <a:xfrm>
            <a:off x="7680960" y="1737360"/>
            <a:ext cx="365760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Cluster 0</a:t>
            </a:r>
            <a:endParaRPr lang="en-US" sz="1500" dirty="0"/>
          </a:p>
        </p:txBody>
      </p:sp>
      <p:sp>
        <p:nvSpPr>
          <p:cNvPr id="7" name="Text 4"/>
          <p:cNvSpPr/>
          <p:nvPr/>
        </p:nvSpPr>
        <p:spPr>
          <a:xfrm>
            <a:off x="7680960" y="2103120"/>
            <a:ext cx="3657600" cy="118872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Avg satisfaction: 1.8376</a:t>
            </a:r>
            <a:endParaRPr lang="en-US" sz="1300" dirty="0"/>
          </a:p>
          <a:p>
            <a:pPr marL="0" indent="0">
              <a:buNone/>
            </a:pPr>
            <a:r>
              <a:rPr lang="en-US" sz="1300" dirty="0">
                <a:solidFill>
                  <a:srgbClr val="1B1B2A"/>
                </a:solidFill>
                <a:latin typeface="Calibri" pitchFamily="34" charset="0"/>
                <a:ea typeface="Calibri" pitchFamily="34" charset="-122"/>
                <a:cs typeface="Calibri" pitchFamily="34" charset="-120"/>
              </a:rPr>
              <a:t>Avg experience: 3.246</a:t>
            </a:r>
            <a:endParaRPr lang="en-US" sz="1300" dirty="0"/>
          </a:p>
          <a:p>
            <a:pPr marL="0" indent="0">
              <a:buNone/>
            </a:pPr>
            <a:r>
              <a:rPr lang="en-US" sz="1300" dirty="0">
                <a:solidFill>
                  <a:srgbClr val="1B1B2A"/>
                </a:solidFill>
                <a:latin typeface="Calibri" pitchFamily="34" charset="0"/>
                <a:ea typeface="Calibri" pitchFamily="34" charset="-122"/>
                <a:cs typeface="Calibri" pitchFamily="34" charset="-120"/>
              </a:rPr>
              <a:t>Avg engagement: 0.4292</a:t>
            </a:r>
            <a:endParaRPr lang="en-US" sz="1300" dirty="0"/>
          </a:p>
        </p:txBody>
      </p:sp>
      <p:sp>
        <p:nvSpPr>
          <p:cNvPr id="8" name="Text 5"/>
          <p:cNvSpPr/>
          <p:nvPr/>
        </p:nvSpPr>
        <p:spPr>
          <a:xfrm>
            <a:off x="7680960" y="4023360"/>
            <a:ext cx="365760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Cluster 1</a:t>
            </a:r>
            <a:endParaRPr lang="en-US" sz="1500" dirty="0"/>
          </a:p>
        </p:txBody>
      </p:sp>
      <p:sp>
        <p:nvSpPr>
          <p:cNvPr id="9" name="Text 6"/>
          <p:cNvSpPr/>
          <p:nvPr/>
        </p:nvSpPr>
        <p:spPr>
          <a:xfrm>
            <a:off x="7680960" y="4389120"/>
            <a:ext cx="3657600" cy="118872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Avg satisfaction: 261.7622</a:t>
            </a:r>
            <a:endParaRPr lang="en-US" sz="1300" dirty="0"/>
          </a:p>
          <a:p>
            <a:pPr marL="0" indent="0">
              <a:buNone/>
            </a:pPr>
            <a:r>
              <a:rPr lang="en-US" sz="1300" dirty="0">
                <a:solidFill>
                  <a:srgbClr val="1B1B2A"/>
                </a:solidFill>
                <a:latin typeface="Calibri" pitchFamily="34" charset="0"/>
                <a:ea typeface="Calibri" pitchFamily="34" charset="-122"/>
                <a:cs typeface="Calibri" pitchFamily="34" charset="-120"/>
              </a:rPr>
              <a:t>Avg experience: 2.3027</a:t>
            </a:r>
            <a:endParaRPr lang="en-US" sz="1300" dirty="0"/>
          </a:p>
          <a:p>
            <a:pPr marL="0" indent="0">
              <a:buNone/>
            </a:pPr>
            <a:r>
              <a:rPr lang="en-US" sz="1300" dirty="0">
                <a:solidFill>
                  <a:srgbClr val="1B1B2A"/>
                </a:solidFill>
                <a:latin typeface="Calibri" pitchFamily="34" charset="0"/>
                <a:ea typeface="Calibri" pitchFamily="34" charset="-122"/>
                <a:cs typeface="Calibri" pitchFamily="34" charset="-120"/>
              </a:rPr>
              <a:t>Avg engagement: 521.2216</a:t>
            </a:r>
            <a:endParaRPr lang="en-US" sz="1300" dirty="0"/>
          </a:p>
        </p:txBody>
      </p:sp>
      <p:sp>
        <p:nvSpPr>
          <p:cNvPr id="10" name="Text 7"/>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DEPLOYMENT</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MLOps: Model Deployment &amp; Tracking</a:t>
            </a:r>
            <a:endParaRPr lang="en-US" sz="3000" dirty="0"/>
          </a:p>
        </p:txBody>
      </p:sp>
      <p:sp>
        <p:nvSpPr>
          <p:cNvPr id="4" name="Shape 2"/>
          <p:cNvSpPr/>
          <p:nvPr/>
        </p:nvSpPr>
        <p:spPr>
          <a:xfrm>
            <a:off x="548640" y="1645920"/>
            <a:ext cx="2606040" cy="4206240"/>
          </a:xfrm>
          <a:prstGeom prst="roundRect">
            <a:avLst>
              <a:gd name="adj" fmla="val 2807"/>
            </a:avLst>
          </a:prstGeom>
          <a:solidFill>
            <a:srgbClr val="CADCFC"/>
          </a:solidFill>
          <a:ln/>
        </p:spPr>
      </p:sp>
      <p:sp>
        <p:nvSpPr>
          <p:cNvPr id="5" name="Shape 3"/>
          <p:cNvSpPr/>
          <p:nvPr/>
        </p:nvSpPr>
        <p:spPr>
          <a:xfrm>
            <a:off x="777240" y="1920240"/>
            <a:ext cx="502920" cy="502920"/>
          </a:xfrm>
          <a:prstGeom prst="ellipse">
            <a:avLst/>
          </a:prstGeom>
          <a:solidFill>
            <a:srgbClr val="D9A441"/>
          </a:solidFill>
          <a:ln/>
        </p:spPr>
      </p:sp>
      <p:sp>
        <p:nvSpPr>
          <p:cNvPr id="6" name="Text 4"/>
          <p:cNvSpPr/>
          <p:nvPr/>
        </p:nvSpPr>
        <p:spPr>
          <a:xfrm>
            <a:off x="777240" y="192024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777240" y="2606040"/>
            <a:ext cx="2148840" cy="5486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Versioned runs</a:t>
            </a:r>
            <a:endParaRPr lang="en-US" sz="1600" dirty="0"/>
          </a:p>
        </p:txBody>
      </p:sp>
      <p:sp>
        <p:nvSpPr>
          <p:cNvPr id="8" name="Text 6"/>
          <p:cNvSpPr/>
          <p:nvPr/>
        </p:nvSpPr>
        <p:spPr>
          <a:xfrm>
            <a:off x="777240" y="3154680"/>
            <a:ext cx="2148840" cy="246888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Each training run logs code version, start/end time, and parameters</a:t>
            </a:r>
            <a:endParaRPr lang="en-US" sz="1300" dirty="0"/>
          </a:p>
        </p:txBody>
      </p:sp>
      <p:sp>
        <p:nvSpPr>
          <p:cNvPr id="9" name="Shape 7"/>
          <p:cNvSpPr/>
          <p:nvPr/>
        </p:nvSpPr>
        <p:spPr>
          <a:xfrm>
            <a:off x="3383280" y="1645920"/>
            <a:ext cx="2606040" cy="4206240"/>
          </a:xfrm>
          <a:prstGeom prst="roundRect">
            <a:avLst>
              <a:gd name="adj" fmla="val 2807"/>
            </a:avLst>
          </a:prstGeom>
          <a:solidFill>
            <a:srgbClr val="CADCFC"/>
          </a:solidFill>
          <a:ln/>
        </p:spPr>
      </p:sp>
      <p:sp>
        <p:nvSpPr>
          <p:cNvPr id="10" name="Shape 8"/>
          <p:cNvSpPr/>
          <p:nvPr/>
        </p:nvSpPr>
        <p:spPr>
          <a:xfrm>
            <a:off x="3611880" y="1920240"/>
            <a:ext cx="502920" cy="502920"/>
          </a:xfrm>
          <a:prstGeom prst="ellipse">
            <a:avLst/>
          </a:prstGeom>
          <a:solidFill>
            <a:srgbClr val="D9A441"/>
          </a:solidFill>
          <a:ln/>
        </p:spPr>
      </p:sp>
      <p:sp>
        <p:nvSpPr>
          <p:cNvPr id="11" name="Text 9"/>
          <p:cNvSpPr/>
          <p:nvPr/>
        </p:nvSpPr>
        <p:spPr>
          <a:xfrm>
            <a:off x="3611880" y="192024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3611880" y="2606040"/>
            <a:ext cx="2148840" cy="5486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Tracked metrics</a:t>
            </a:r>
            <a:endParaRPr lang="en-US" sz="1600" dirty="0"/>
          </a:p>
        </p:txBody>
      </p:sp>
      <p:sp>
        <p:nvSpPr>
          <p:cNvPr id="13" name="Text 11"/>
          <p:cNvSpPr/>
          <p:nvPr/>
        </p:nvSpPr>
        <p:spPr>
          <a:xfrm>
            <a:off x="3611880" y="3154680"/>
            <a:ext cx="2148840" cy="246888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Train/test R² and RMSE recorded per run in model_tracking_log.csv</a:t>
            </a:r>
            <a:endParaRPr lang="en-US" sz="1300" dirty="0"/>
          </a:p>
        </p:txBody>
      </p:sp>
      <p:sp>
        <p:nvSpPr>
          <p:cNvPr id="14" name="Shape 12"/>
          <p:cNvSpPr/>
          <p:nvPr/>
        </p:nvSpPr>
        <p:spPr>
          <a:xfrm>
            <a:off x="6217920" y="1645920"/>
            <a:ext cx="2606040" cy="4206240"/>
          </a:xfrm>
          <a:prstGeom prst="roundRect">
            <a:avLst>
              <a:gd name="adj" fmla="val 2807"/>
            </a:avLst>
          </a:prstGeom>
          <a:solidFill>
            <a:srgbClr val="CADCFC"/>
          </a:solidFill>
          <a:ln/>
        </p:spPr>
      </p:sp>
      <p:sp>
        <p:nvSpPr>
          <p:cNvPr id="15" name="Shape 13"/>
          <p:cNvSpPr/>
          <p:nvPr/>
        </p:nvSpPr>
        <p:spPr>
          <a:xfrm>
            <a:off x="6446520" y="1920240"/>
            <a:ext cx="502920" cy="502920"/>
          </a:xfrm>
          <a:prstGeom prst="ellipse">
            <a:avLst/>
          </a:prstGeom>
          <a:solidFill>
            <a:srgbClr val="D9A441"/>
          </a:solidFill>
          <a:ln/>
        </p:spPr>
      </p:sp>
      <p:sp>
        <p:nvSpPr>
          <p:cNvPr id="16" name="Text 14"/>
          <p:cNvSpPr/>
          <p:nvPr/>
        </p:nvSpPr>
        <p:spPr>
          <a:xfrm>
            <a:off x="6446520" y="192024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6446520" y="2606040"/>
            <a:ext cx="2148840" cy="5486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Artifacts saved</a:t>
            </a:r>
            <a:endParaRPr lang="en-US" sz="1600" dirty="0"/>
          </a:p>
        </p:txBody>
      </p:sp>
      <p:sp>
        <p:nvSpPr>
          <p:cNvPr id="18" name="Text 16"/>
          <p:cNvSpPr/>
          <p:nvPr/>
        </p:nvSpPr>
        <p:spPr>
          <a:xfrm>
            <a:off x="6446520" y="3154680"/>
            <a:ext cx="2148840" cy="246888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Coefficients and full run records archived to reports/model_runs/</a:t>
            </a:r>
            <a:endParaRPr lang="en-US" sz="1300" dirty="0"/>
          </a:p>
        </p:txBody>
      </p:sp>
      <p:sp>
        <p:nvSpPr>
          <p:cNvPr id="19" name="Shape 17"/>
          <p:cNvSpPr/>
          <p:nvPr/>
        </p:nvSpPr>
        <p:spPr>
          <a:xfrm>
            <a:off x="9052560" y="1645920"/>
            <a:ext cx="2606040" cy="4206240"/>
          </a:xfrm>
          <a:prstGeom prst="roundRect">
            <a:avLst>
              <a:gd name="adj" fmla="val 2807"/>
            </a:avLst>
          </a:prstGeom>
          <a:solidFill>
            <a:srgbClr val="CADCFC"/>
          </a:solidFill>
          <a:ln/>
        </p:spPr>
      </p:sp>
      <p:sp>
        <p:nvSpPr>
          <p:cNvPr id="20" name="Shape 18"/>
          <p:cNvSpPr/>
          <p:nvPr/>
        </p:nvSpPr>
        <p:spPr>
          <a:xfrm>
            <a:off x="9281160" y="1920240"/>
            <a:ext cx="502920" cy="502920"/>
          </a:xfrm>
          <a:prstGeom prst="ellipse">
            <a:avLst/>
          </a:prstGeom>
          <a:solidFill>
            <a:srgbClr val="D9A441"/>
          </a:solidFill>
          <a:ln/>
        </p:spPr>
      </p:sp>
      <p:sp>
        <p:nvSpPr>
          <p:cNvPr id="21" name="Text 19"/>
          <p:cNvSpPr/>
          <p:nvPr/>
        </p:nvSpPr>
        <p:spPr>
          <a:xfrm>
            <a:off x="9281160" y="192024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9281160" y="2606040"/>
            <a:ext cx="2148840" cy="5486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Database export</a:t>
            </a:r>
            <a:endParaRPr lang="en-US" sz="1600" dirty="0"/>
          </a:p>
        </p:txBody>
      </p:sp>
      <p:sp>
        <p:nvSpPr>
          <p:cNvPr id="23" name="Text 21"/>
          <p:cNvSpPr/>
          <p:nvPr/>
        </p:nvSpPr>
        <p:spPr>
          <a:xfrm>
            <a:off x="9281160" y="3154680"/>
            <a:ext cx="2148840" cy="2468880"/>
          </a:xfrm>
          <a:prstGeom prst="rect">
            <a:avLst/>
          </a:prstGeom>
          <a:noFill/>
          <a:ln/>
        </p:spPr>
        <p:txBody>
          <a:bodyPr wrap="square" lIns="0" tIns="0" rIns="0" bIns="0" rtlCol="0" anchor="t"/>
          <a:lstStyle/>
          <a:p>
            <a:pPr marL="0" indent="0">
              <a:buNone/>
            </a:pPr>
            <a:r>
              <a:rPr lang="en-US" sz="1300" dirty="0">
                <a:solidFill>
                  <a:srgbClr val="1B1B2A"/>
                </a:solidFill>
                <a:latin typeface="Calibri" pitchFamily="34" charset="0"/>
                <a:ea typeface="Calibri" pitchFamily="34" charset="-122"/>
                <a:cs typeface="Calibri" pitchFamily="34" charset="-120"/>
              </a:rPr>
              <a:t>Final scored table (engagement, experience, satisfaction) exported for SQL access</a:t>
            </a:r>
            <a:endParaRPr lang="en-US" sz="1300" dirty="0"/>
          </a:p>
        </p:txBody>
      </p:sp>
      <p:sp>
        <p:nvSpPr>
          <p:cNvPr id="24" name="Text 22"/>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CAVEATS</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Analysis Limitations</a:t>
            </a:r>
            <a:endParaRPr lang="en-US" sz="3000" dirty="0"/>
          </a:p>
        </p:txBody>
      </p:sp>
      <p:sp>
        <p:nvSpPr>
          <p:cNvPr id="4" name="Text 2"/>
          <p:cNvSpPr/>
          <p:nvPr/>
        </p:nvSpPr>
        <p:spPr>
          <a:xfrm>
            <a:off x="548640" y="1554480"/>
            <a:ext cx="10881360" cy="47548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Single-month snapshot -- trend, seasonality, and churn cannot be assessed</a:t>
            </a:r>
            <a:endParaRPr lang="en-US" sz="1600" dirty="0"/>
          </a:p>
          <a:p>
            <a:pPr marL="228600" indent="-2286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55-87% missingness in key network-quality columns (TCP retransmission, HTTP bytes), imputed per brief</a:t>
            </a:r>
            <a:endParaRPr lang="en-US" sz="1600" dirty="0"/>
          </a:p>
          <a:p>
            <a:pPr marL="228600" indent="-2286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One extreme outlier subscriber dominates engagement/satisfaction clustering and rankings</a:t>
            </a:r>
            <a:endParaRPr lang="en-US" sz="1600" dirty="0"/>
          </a:p>
          <a:p>
            <a:pPr marL="228600" indent="-2286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No revenue or pricing data provided -- engagement/experience used as value proxies, not profitability</a:t>
            </a:r>
            <a:endParaRPr lang="en-US" sz="1600" dirty="0"/>
          </a:p>
          <a:p>
            <a:pPr marL="228600" indent="-2286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Custom numpy modeling toolkit used (no scikit-learn/scipy in this environment) -- unit-tested but not cross-validated against scikit-learn</a:t>
            </a:r>
            <a:endParaRPr lang="en-US" sz="1600" dirty="0"/>
          </a:p>
          <a:p>
            <a:pPr marL="228600" indent="-2286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Database export used SQLite as a stand-in for MySQL (no local MySQL server available)</a:t>
            </a:r>
            <a:endParaRPr lang="en-US" sz="1600" dirty="0"/>
          </a:p>
        </p:txBody>
      </p:sp>
      <p:sp>
        <p:nvSpPr>
          <p:cNvPr id="5" name="Text 3"/>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RECOMMENDATION</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Buy, With Conditions</a:t>
            </a:r>
            <a:endParaRPr lang="en-US" sz="3000" dirty="0"/>
          </a:p>
        </p:txBody>
      </p:sp>
      <p:sp>
        <p:nvSpPr>
          <p:cNvPr id="4" name="Text 2"/>
          <p:cNvSpPr/>
          <p:nvPr/>
        </p:nvSpPr>
        <p:spPr>
          <a:xfrm>
            <a:off x="548640" y="1554480"/>
            <a:ext cx="10881360" cy="365760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Positive: large, engaged subscriber base with a premium device mix and an underexploited fixed-wireless broadband segment</a:t>
            </a:r>
            <a:endParaRPr lang="en-US" sz="1700" dirty="0"/>
          </a:p>
          <a:p>
            <a:pPr marL="228600" indent="-2286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Risk: immature network telemetry and measurable per-handset quality variance should be priced into the deal</a:t>
            </a:r>
            <a:endParaRPr lang="en-US" sz="1700" dirty="0"/>
          </a:p>
          <a:p>
            <a:pPr marL="228600" indent="-2286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Recommended next step: negotiate a network-infrastructure remediation allowance into the purchase price</a:t>
            </a:r>
            <a:endParaRPr lang="en-US" sz="1700" dirty="0"/>
          </a:p>
          <a:p>
            <a:pPr marL="228600" indent="-2286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Recommended next step: commission a multi-month follow-up analysis to confirm trends before final close</a:t>
            </a:r>
            <a:endParaRPr lang="en-US" sz="1700" dirty="0"/>
          </a:p>
        </p:txBody>
      </p:sp>
      <p:sp>
        <p:nvSpPr>
          <p:cNvPr id="5" name="Shape 3"/>
          <p:cNvSpPr/>
          <p:nvPr/>
        </p:nvSpPr>
        <p:spPr>
          <a:xfrm>
            <a:off x="548640" y="5349240"/>
            <a:ext cx="10881360" cy="1005840"/>
          </a:xfrm>
          <a:prstGeom prst="roundRect">
            <a:avLst>
              <a:gd name="adj" fmla="val 7273"/>
            </a:avLst>
          </a:prstGeom>
          <a:solidFill>
            <a:srgbClr val="273580"/>
          </a:solidFill>
          <a:ln/>
        </p:spPr>
      </p:sp>
      <p:sp>
        <p:nvSpPr>
          <p:cNvPr id="6" name="Text 4"/>
          <p:cNvSpPr/>
          <p:nvPr/>
        </p:nvSpPr>
        <p:spPr>
          <a:xfrm>
            <a:off x="822960" y="5349240"/>
            <a:ext cx="10332720" cy="1005840"/>
          </a:xfrm>
          <a:prstGeom prst="rect">
            <a:avLst/>
          </a:prstGeom>
          <a:noFill/>
          <a:ln/>
        </p:spPr>
        <p:txBody>
          <a:bodyPr wrap="square" lIns="0" tIns="0" rIns="0" bIns="0" rtlCol="0" anchor="ctr"/>
          <a:lstStyle/>
          <a:p>
            <a:pPr marL="0" indent="0">
              <a:buNone/>
            </a:pPr>
            <a:r>
              <a:rPr lang="en-US" sz="1600" b="1" dirty="0">
                <a:solidFill>
                  <a:srgbClr val="D9A441"/>
                </a:solidFill>
                <a:latin typeface="Cambria" pitchFamily="34" charset="0"/>
                <a:ea typeface="Cambria" pitchFamily="34" charset="-122"/>
                <a:cs typeface="Cambria" pitchFamily="34" charset="-120"/>
              </a:rPr>
              <a:t>Bottom line: the data supports proceeding with the acquisition, conditioned on a network-quality remediation plan.</a:t>
            </a:r>
            <a:endParaRPr lang="en-US" sz="1600" dirty="0"/>
          </a:p>
        </p:txBody>
      </p:sp>
      <p:sp>
        <p:nvSpPr>
          <p:cNvPr id="7" name="Text 5"/>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91440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APPENDIX</a:t>
            </a:r>
            <a:endParaRPr lang="en-US" sz="1300" dirty="0"/>
          </a:p>
        </p:txBody>
      </p:sp>
      <p:sp>
        <p:nvSpPr>
          <p:cNvPr id="3" name="Text 1"/>
          <p:cNvSpPr/>
          <p:nvPr/>
        </p:nvSpPr>
        <p:spPr>
          <a:xfrm>
            <a:off x="548640" y="365760"/>
            <a:ext cx="11064240" cy="8229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48640" y="1554480"/>
            <a:ext cx="10881360" cy="32004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B1B2A"/>
                </a:solidFill>
                <a:latin typeface="Calibri" pitchFamily="34" charset="0"/>
                <a:ea typeface="Calibri" pitchFamily="34" charset="-122"/>
                <a:cs typeface="Calibri" pitchFamily="34" charset="-120"/>
              </a:rPr>
              <a:t>TellCo xDR session-level export (source dataset), Nexthikes IT Solutions</a:t>
            </a:r>
            <a:endParaRPr lang="en-US" sz="1600" dirty="0"/>
          </a:p>
          <a:p>
            <a:pPr marL="228600" indent="-228600">
              <a:spcAft>
                <a:spcPts val="1000"/>
              </a:spcAft>
              <a:buSzPct val="100000"/>
              <a:buChar char="●"/>
            </a:pPr>
            <a:r>
              <a:rPr lang="en-US" sz="1600" dirty="0">
                <a:solidFill>
                  <a:srgbClr val="1B1B2A"/>
                </a:solidFill>
                <a:latin typeface="Calibri" pitchFamily="34" charset="0"/>
                <a:ea typeface="Calibri" pitchFamily="34" charset="-122"/>
                <a:cs typeface="Calibri" pitchFamily="34" charset="-120"/>
              </a:rPr>
              <a:t>Field Descriptions.xlsx -- field dictionary accompanying the source dataset</a:t>
            </a:r>
            <a:endParaRPr lang="en-US" sz="1600" dirty="0"/>
          </a:p>
          <a:p>
            <a:pPr marL="228600" indent="-228600">
              <a:spcAft>
                <a:spcPts val="1000"/>
              </a:spcAft>
              <a:buSzPct val="100000"/>
              <a:buChar char="●"/>
            </a:pPr>
            <a:r>
              <a:rPr lang="en-US" sz="1600" dirty="0">
                <a:solidFill>
                  <a:srgbClr val="1B1B2A"/>
                </a:solidFill>
                <a:latin typeface="Calibri" pitchFamily="34" charset="0"/>
                <a:ea typeface="Calibri" pitchFamily="34" charset="-122"/>
                <a:cs typeface="Calibri" pitchFamily="34" charset="-120"/>
              </a:rPr>
              <a:t>Project code repository: tellco-analysis/ (src/tellco package, scripts/, tests/, dashboard/app.py)</a:t>
            </a:r>
            <a:endParaRPr lang="en-US" sz="1600" dirty="0"/>
          </a:p>
          <a:p>
            <a:pPr marL="228600" indent="-228600">
              <a:spcAft>
                <a:spcPts val="1000"/>
              </a:spcAft>
              <a:buSzPct val="100000"/>
              <a:buChar char="●"/>
            </a:pPr>
            <a:r>
              <a:rPr lang="en-US" sz="1600" dirty="0">
                <a:solidFill>
                  <a:srgbClr val="1B1B2A"/>
                </a:solidFill>
                <a:latin typeface="Calibri" pitchFamily="34" charset="0"/>
                <a:ea typeface="Calibri" pitchFamily="34" charset="-122"/>
                <a:cs typeface="Calibri" pitchFamily="34" charset="-120"/>
              </a:rPr>
              <a:t>Full written report: TellCo_Investor_Report.docx</a:t>
            </a:r>
            <a:endParaRPr lang="en-US" sz="1600" dirty="0"/>
          </a:p>
          <a:p>
            <a:pPr marL="228600" indent="-228600">
              <a:spcAft>
                <a:spcPts val="1000"/>
              </a:spcAft>
              <a:buSzPct val="100000"/>
              <a:buChar char="●"/>
            </a:pPr>
            <a:r>
              <a:rPr lang="en-US" sz="1600" dirty="0">
                <a:solidFill>
                  <a:srgbClr val="1B1B2A"/>
                </a:solidFill>
                <a:latin typeface="Calibri" pitchFamily="34" charset="0"/>
                <a:ea typeface="Calibri" pitchFamily="34" charset="-122"/>
                <a:cs typeface="Calibri" pitchFamily="34" charset="-120"/>
              </a:rPr>
              <a:t>Interactive dashboard: dashboard/app.py (Streamlit)</a:t>
            </a:r>
            <a:endParaRPr lang="en-US" sz="1600" dirty="0"/>
          </a:p>
        </p:txBody>
      </p:sp>
      <p:sp>
        <p:nvSpPr>
          <p:cNvPr id="5" name="Text 3"/>
          <p:cNvSpPr/>
          <p:nvPr/>
        </p:nvSpPr>
        <p:spPr>
          <a:xfrm>
            <a:off x="11612880" y="6473952"/>
            <a:ext cx="457200" cy="274320"/>
          </a:xfrm>
          <a:prstGeom prst="rect">
            <a:avLst/>
          </a:prstGeom>
          <a:noFill/>
          <a:ln/>
        </p:spPr>
        <p:txBody>
          <a:bodyPr wrap="square" lIns="0" tIns="0" rIns="0" bIns="0" rtlCol="0" anchor="ctr"/>
          <a:lstStyle/>
          <a:p>
            <a:pPr marL="0" indent="0" algn="r">
              <a:buNone/>
            </a:pPr>
            <a:r>
              <a:rPr lang="en-US" sz="1000" dirty="0">
                <a:solidFill>
                  <a:srgbClr val="5A6B8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1327</Words>
  <Application>Microsoft Office PowerPoint</Application>
  <PresentationFormat>Widescreen</PresentationFormat>
  <Paragraphs>210</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cp:revision>
  <dcterms:created xsi:type="dcterms:W3CDTF">2026-07-15T09:10:01Z</dcterms:created>
  <dcterms:modified xsi:type="dcterms:W3CDTF">2026-07-22T13:39:48Z</dcterms:modified>
</cp:coreProperties>
</file>